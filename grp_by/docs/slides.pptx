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21"/>
  </p:notesMasterIdLst>
  <p:sldIdLst>
    <p:sldId id="264" r:id="rId3"/>
    <p:sldId id="280" r:id="rId4"/>
    <p:sldId id="370" r:id="rId5"/>
    <p:sldId id="371" r:id="rId6"/>
    <p:sldId id="372" r:id="rId7"/>
    <p:sldId id="373" r:id="rId8"/>
    <p:sldId id="374" r:id="rId9"/>
    <p:sldId id="375" r:id="rId10"/>
    <p:sldId id="382" r:id="rId11"/>
    <p:sldId id="377" r:id="rId12"/>
    <p:sldId id="378" r:id="rId13"/>
    <p:sldId id="383" r:id="rId14"/>
    <p:sldId id="379" r:id="rId15"/>
    <p:sldId id="384" r:id="rId16"/>
    <p:sldId id="376" r:id="rId17"/>
    <p:sldId id="380" r:id="rId18"/>
    <p:sldId id="381" r:id="rId19"/>
    <p:sldId id="366"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E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29" autoAdjust="0"/>
    <p:restoredTop sz="83639" autoAdjust="0"/>
  </p:normalViewPr>
  <p:slideViewPr>
    <p:cSldViewPr snapToGrid="0">
      <p:cViewPr varScale="1">
        <p:scale>
          <a:sx n="102" d="100"/>
          <a:sy n="102" d="100"/>
        </p:scale>
        <p:origin x="78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C3C311-92EE-470A-AB9F-9777D60AE822}" type="datetimeFigureOut">
              <a:rPr lang="zh-CN" altLang="en-US" smtClean="0"/>
              <a:t>2025/12/14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A892A7-4B34-49B6-B80B-094B23E5458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86A892A7-4B34-49B6-B80B-094B23E54580}" type="slidenum">
              <a:rPr lang="zh-CN" altLang="en-US" smtClean="0"/>
              <a:t>2</a:t>
            </a:fld>
            <a:endParaRPr lang="zh-CN" altLang="en-US"/>
          </a:p>
        </p:txBody>
      </p:sp>
    </p:spTree>
    <p:extLst>
      <p:ext uri="{BB962C8B-B14F-4D97-AF65-F5344CB8AC3E}">
        <p14:creationId xmlns:p14="http://schemas.microsoft.com/office/powerpoint/2010/main" val="1139967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dirty="0"/>
              <a:t>About motivation of the project.</a:t>
            </a:r>
          </a:p>
          <a:p>
            <a:r>
              <a:rPr kumimoji="1" lang="en" altLang="zh-CN" dirty="0"/>
              <a:t>We’re digging into quake data because we’re plain curious: do big shakes talk to each other, cluster like weather, or follow hidden seasons? We know we can’t predict them yet, but hunting for patterns is still a cool scientific treasure hunt.</a:t>
            </a:r>
            <a:endParaRPr kumimoji="1" lang="zh-CN" altLang="en-US" dirty="0"/>
          </a:p>
        </p:txBody>
      </p:sp>
      <p:sp>
        <p:nvSpPr>
          <p:cNvPr id="4" name="灯片编号占位符 3"/>
          <p:cNvSpPr>
            <a:spLocks noGrp="1"/>
          </p:cNvSpPr>
          <p:nvPr>
            <p:ph type="sldNum" sz="quarter" idx="5"/>
          </p:nvPr>
        </p:nvSpPr>
        <p:spPr/>
        <p:txBody>
          <a:bodyPr/>
          <a:lstStyle/>
          <a:p>
            <a:fld id="{86A892A7-4B34-49B6-B80B-094B23E54580}" type="slidenum">
              <a:rPr lang="zh-CN" altLang="en-US" smtClean="0"/>
              <a:t>3</a:t>
            </a:fld>
            <a:endParaRPr lang="zh-CN" altLang="en-US"/>
          </a:p>
        </p:txBody>
      </p:sp>
    </p:spTree>
    <p:extLst>
      <p:ext uri="{BB962C8B-B14F-4D97-AF65-F5344CB8AC3E}">
        <p14:creationId xmlns:p14="http://schemas.microsoft.com/office/powerpoint/2010/main" val="2643872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here shows the roles and responsibilities of the team.(ppt</a:t>
            </a:r>
            <a:r>
              <a:rPr kumimoji="1" lang="zh-CN" altLang="en-US" dirty="0"/>
              <a:t>停顿两秒</a:t>
            </a:r>
            <a:r>
              <a:rPr kumimoji="1" lang="en-US" altLang="zh-CN" dirty="0"/>
              <a:t>)</a:t>
            </a:r>
            <a:endParaRPr kumimoji="1" lang="zh-CN" altLang="en-US" dirty="0"/>
          </a:p>
        </p:txBody>
      </p:sp>
      <p:sp>
        <p:nvSpPr>
          <p:cNvPr id="4" name="灯片编号占位符 3"/>
          <p:cNvSpPr>
            <a:spLocks noGrp="1"/>
          </p:cNvSpPr>
          <p:nvPr>
            <p:ph type="sldNum" sz="quarter" idx="5"/>
          </p:nvPr>
        </p:nvSpPr>
        <p:spPr/>
        <p:txBody>
          <a:bodyPr/>
          <a:lstStyle/>
          <a:p>
            <a:fld id="{86A892A7-4B34-49B6-B80B-094B23E54580}" type="slidenum">
              <a:rPr lang="zh-CN" altLang="en-US" smtClean="0"/>
              <a:t>4</a:t>
            </a:fld>
            <a:endParaRPr lang="zh-CN" altLang="en-US"/>
          </a:p>
        </p:txBody>
      </p:sp>
    </p:spTree>
    <p:extLst>
      <p:ext uri="{BB962C8B-B14F-4D97-AF65-F5344CB8AC3E}">
        <p14:creationId xmlns:p14="http://schemas.microsoft.com/office/powerpoint/2010/main" val="3981806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About what we have done.</a:t>
            </a:r>
          </a:p>
          <a:p>
            <a:pPr marL="0" marR="0" lvl="0" indent="0" algn="l" defTabSz="914400" rtl="0" eaLnBrk="0" fontAlgn="base" latinLnBrk="0" hangingPunct="0">
              <a:lnSpc>
                <a:spcPct val="150000"/>
              </a:lnSpc>
              <a:spcBef>
                <a:spcPct val="0"/>
              </a:spcBef>
              <a:spcAft>
                <a:spcPct val="0"/>
              </a:spcAft>
              <a:buClrTx/>
              <a:buSzTx/>
              <a:buFontTx/>
              <a:buNone/>
              <a:tabLst/>
            </a:pPr>
            <a:r>
              <a:rPr kumimoji="1" lang="en-US" altLang="zh-CN" dirty="0"/>
              <a:t>We trained </a:t>
            </a:r>
            <a:r>
              <a:rPr kumimoji="1" lang="zh-CN" altLang="zh-CN" sz="1200" kern="1200" dirty="0">
                <a:solidFill>
                  <a:schemeClr val="tx1"/>
                </a:solidFill>
                <a:latin typeface="+mn-lt"/>
                <a:ea typeface="+mn-ea"/>
                <a:cs typeface="+mn-cs"/>
              </a:rPr>
              <a:t>multiple machine learning models</a:t>
            </a:r>
            <a:r>
              <a:rPr kumimoji="1" lang="en-US" altLang="zh-CN" sz="1200" kern="1200" dirty="0">
                <a:solidFill>
                  <a:schemeClr val="tx1"/>
                </a:solidFill>
                <a:latin typeface="+mn-lt"/>
                <a:ea typeface="+mn-ea"/>
                <a:cs typeface="+mn-cs"/>
              </a:rPr>
              <a:t> </a:t>
            </a:r>
            <a:r>
              <a:rPr kumimoji="1" lang="zh-CN" altLang="zh-CN" sz="1200" kern="1200" dirty="0">
                <a:solidFill>
                  <a:schemeClr val="tx1"/>
                </a:solidFill>
                <a:latin typeface="+mn-lt"/>
                <a:ea typeface="+mn-ea"/>
                <a:cs typeface="+mn-cs"/>
              </a:rPr>
              <a:t>using historical earthquake data</a:t>
            </a:r>
            <a:r>
              <a:rPr kumimoji="1" lang="en-US" altLang="zh-CN" sz="1200" kern="1200" dirty="0">
                <a:solidFill>
                  <a:schemeClr val="tx1"/>
                </a:solidFill>
                <a:latin typeface="+mn-lt"/>
                <a:ea typeface="+mn-ea"/>
                <a:cs typeface="+mn-cs"/>
              </a:rPr>
              <a:t> </a:t>
            </a:r>
            <a:r>
              <a:rPr kumimoji="1" lang="zh-CN" altLang="zh-CN" sz="1200" kern="1200" dirty="0">
                <a:solidFill>
                  <a:schemeClr val="tx1"/>
                </a:solidFill>
                <a:latin typeface="+mn-lt"/>
                <a:ea typeface="+mn-ea"/>
                <a:cs typeface="+mn-cs"/>
              </a:rPr>
              <a:t>to predict whether a strong earthquake will occur in the future</a:t>
            </a:r>
            <a:r>
              <a:rPr kumimoji="1" lang="en-US" altLang="zh-CN" sz="1200" kern="1200" dirty="0">
                <a:solidFill>
                  <a:schemeClr val="tx1"/>
                </a:solidFill>
                <a:latin typeface="+mn-lt"/>
                <a:ea typeface="+mn-ea"/>
                <a:cs typeface="+mn-cs"/>
              </a:rPr>
              <a:t> </a:t>
            </a:r>
            <a:r>
              <a:rPr kumimoji="1" lang="zh-CN" altLang="zh-CN" sz="1200" kern="1200" dirty="0">
                <a:solidFill>
                  <a:schemeClr val="tx1"/>
                </a:solidFill>
                <a:latin typeface="+mn-lt"/>
                <a:ea typeface="+mn-ea"/>
                <a:cs typeface="+mn-cs"/>
              </a:rPr>
              <a:t>and its magnitude, and compare the model performance.</a:t>
            </a:r>
          </a:p>
          <a:p>
            <a:endParaRPr kumimoji="1" lang="zh-CN" altLang="en-US" dirty="0"/>
          </a:p>
        </p:txBody>
      </p:sp>
      <p:sp>
        <p:nvSpPr>
          <p:cNvPr id="4" name="灯片编号占位符 3"/>
          <p:cNvSpPr>
            <a:spLocks noGrp="1"/>
          </p:cNvSpPr>
          <p:nvPr>
            <p:ph type="sldNum" sz="quarter" idx="5"/>
          </p:nvPr>
        </p:nvSpPr>
        <p:spPr/>
        <p:txBody>
          <a:bodyPr/>
          <a:lstStyle/>
          <a:p>
            <a:fld id="{86A892A7-4B34-49B6-B80B-094B23E54580}" type="slidenum">
              <a:rPr lang="zh-CN" altLang="en-US" smtClean="0"/>
              <a:t>5</a:t>
            </a:fld>
            <a:endParaRPr lang="zh-CN" altLang="en-US"/>
          </a:p>
        </p:txBody>
      </p:sp>
    </p:spTree>
    <p:extLst>
      <p:ext uri="{BB962C8B-B14F-4D97-AF65-F5344CB8AC3E}">
        <p14:creationId xmlns:p14="http://schemas.microsoft.com/office/powerpoint/2010/main" val="3341934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Feature Extraction was one of the most important part in our project.</a:t>
            </a:r>
          </a:p>
          <a:p>
            <a:r>
              <a:rPr lang="en" altLang="zh-CN" sz="1200" dirty="0">
                <a:latin typeface="Palatino" pitchFamily="2" charset="0"/>
                <a:ea typeface="Palatino" pitchFamily="2" charset="0"/>
              </a:rPr>
              <a:t>Feature extraction is the process of transforming raw data into a set of measurable characteristics or features that better represent the underlying problem and improve model performance.</a:t>
            </a:r>
            <a:endParaRPr kumimoji="1" lang="zh-CN" altLang="en-US" dirty="0"/>
          </a:p>
        </p:txBody>
      </p:sp>
      <p:sp>
        <p:nvSpPr>
          <p:cNvPr id="4" name="灯片编号占位符 3"/>
          <p:cNvSpPr>
            <a:spLocks noGrp="1"/>
          </p:cNvSpPr>
          <p:nvPr>
            <p:ph type="sldNum" sz="quarter" idx="5"/>
          </p:nvPr>
        </p:nvSpPr>
        <p:spPr/>
        <p:txBody>
          <a:bodyPr/>
          <a:lstStyle/>
          <a:p>
            <a:fld id="{86A892A7-4B34-49B6-B80B-094B23E54580}" type="slidenum">
              <a:rPr lang="zh-CN" altLang="en-US" smtClean="0"/>
              <a:t>7</a:t>
            </a:fld>
            <a:endParaRPr lang="zh-CN" altLang="en-US"/>
          </a:p>
        </p:txBody>
      </p:sp>
    </p:spTree>
    <p:extLst>
      <p:ext uri="{BB962C8B-B14F-4D97-AF65-F5344CB8AC3E}">
        <p14:creationId xmlns:p14="http://schemas.microsoft.com/office/powerpoint/2010/main" val="2434822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These are the models we have used.</a:t>
            </a:r>
          </a:p>
          <a:p>
            <a:r>
              <a:rPr kumimoji="1" lang="en-US" altLang="zh-CN" dirty="0"/>
              <a:t>There are three types of models: classification models, regression models and clustering models.</a:t>
            </a:r>
          </a:p>
          <a:p>
            <a:r>
              <a:rPr kumimoji="1" lang="zh-CN" altLang="en-US" dirty="0"/>
              <a:t>（</a:t>
            </a:r>
            <a:r>
              <a:rPr kumimoji="1" lang="en-US" altLang="zh-CN" dirty="0"/>
              <a:t>ppt</a:t>
            </a:r>
            <a:r>
              <a:rPr kumimoji="1" lang="zh-CN" altLang="en-US" dirty="0"/>
              <a:t>停顿两秒）</a:t>
            </a:r>
          </a:p>
        </p:txBody>
      </p:sp>
      <p:sp>
        <p:nvSpPr>
          <p:cNvPr id="4" name="灯片编号占位符 3"/>
          <p:cNvSpPr>
            <a:spLocks noGrp="1"/>
          </p:cNvSpPr>
          <p:nvPr>
            <p:ph type="sldNum" sz="quarter" idx="5"/>
          </p:nvPr>
        </p:nvSpPr>
        <p:spPr/>
        <p:txBody>
          <a:bodyPr/>
          <a:lstStyle/>
          <a:p>
            <a:fld id="{86A892A7-4B34-49B6-B80B-094B23E54580}" type="slidenum">
              <a:rPr lang="zh-CN" altLang="en-US" smtClean="0"/>
              <a:t>8</a:t>
            </a:fld>
            <a:endParaRPr lang="zh-CN" altLang="en-US"/>
          </a:p>
        </p:txBody>
      </p:sp>
    </p:spTree>
    <p:extLst>
      <p:ext uri="{BB962C8B-B14F-4D97-AF65-F5344CB8AC3E}">
        <p14:creationId xmlns:p14="http://schemas.microsoft.com/office/powerpoint/2010/main" val="3891116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dirty="0"/>
              <a:t>This is an overall view.</a:t>
            </a:r>
          </a:p>
          <a:p>
            <a:r>
              <a:rPr kumimoji="1" lang="en" altLang="zh-CN" dirty="0"/>
              <a:t>This exploratory analysis summarizes the earthquake data: magnitudes are predominantly small having</a:t>
            </a:r>
            <a:r>
              <a:rPr kumimoji="1" lang="zh-CN" altLang="en-US" dirty="0"/>
              <a:t> </a:t>
            </a:r>
            <a:r>
              <a:rPr kumimoji="1" lang="en-US" altLang="zh-CN" dirty="0"/>
              <a:t>the mean value of</a:t>
            </a:r>
            <a:r>
              <a:rPr kumimoji="1" lang="en" altLang="zh-CN" dirty="0"/>
              <a:t> 4.44, depths are concentrated in shallow ranges, and events cluster in spatial hotspots. Daily and hourly frequencies fluctuate without a clear temporal pattern. Feature correlations—such as magnitude lag terms—provide a foundation for subsequent modeling.</a:t>
            </a:r>
            <a:endParaRPr kumimoji="1" lang="zh-CN" altLang="en-US" dirty="0"/>
          </a:p>
        </p:txBody>
      </p:sp>
      <p:sp>
        <p:nvSpPr>
          <p:cNvPr id="4" name="灯片编号占位符 3"/>
          <p:cNvSpPr>
            <a:spLocks noGrp="1"/>
          </p:cNvSpPr>
          <p:nvPr>
            <p:ph type="sldNum" sz="quarter" idx="5"/>
          </p:nvPr>
        </p:nvSpPr>
        <p:spPr/>
        <p:txBody>
          <a:bodyPr/>
          <a:lstStyle/>
          <a:p>
            <a:fld id="{86A892A7-4B34-49B6-B80B-094B23E54580}" type="slidenum">
              <a:rPr lang="zh-CN" altLang="en-US" smtClean="0"/>
              <a:t>9</a:t>
            </a:fld>
            <a:endParaRPr lang="zh-CN" altLang="en-US"/>
          </a:p>
        </p:txBody>
      </p:sp>
    </p:spTree>
    <p:extLst>
      <p:ext uri="{BB962C8B-B14F-4D97-AF65-F5344CB8AC3E}">
        <p14:creationId xmlns:p14="http://schemas.microsoft.com/office/powerpoint/2010/main" val="1800274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dirty="0"/>
              <a:t>Here shows classification models.</a:t>
            </a:r>
          </a:p>
          <a:p>
            <a:r>
              <a:rPr kumimoji="1" lang="en" altLang="zh-CN" dirty="0"/>
              <a:t>These results stem from evaluating 11 classification models, such as Random Forest, </a:t>
            </a:r>
            <a:r>
              <a:rPr kumimoji="1" lang="en" altLang="zh-CN" dirty="0" err="1"/>
              <a:t>XGBoost</a:t>
            </a:r>
            <a:r>
              <a:rPr kumimoji="1" lang="en" altLang="zh-CN" dirty="0"/>
              <a:t>, on the task of predicting “strong earthquakes” which means its magnitude was higher than 4.5. Time-series cross-validation was used to prevent data leakage, and models were scored with F1 score, accuracy, AUC, precision, and recall. Random Forest performed best, as it’s shown: F1 equals to 0.678 and accuracy equals to 0.761, because its ensemble approach captures nonlinear patterns—such as spatial clusters and seismic lag features—better than linear models like logistic regression whose F1 score equals to 0.508. Tree-based models, such as </a:t>
            </a:r>
            <a:r>
              <a:rPr kumimoji="1" lang="en" altLang="zh-CN" dirty="0" err="1"/>
              <a:t>XGBoost</a:t>
            </a:r>
            <a:r>
              <a:rPr kumimoji="1" lang="en" altLang="zh-CN" dirty="0"/>
              <a:t>, </a:t>
            </a:r>
            <a:r>
              <a:rPr kumimoji="1" lang="en" altLang="zh-CN" dirty="0" err="1"/>
              <a:t>LightGBM</a:t>
            </a:r>
            <a:r>
              <a:rPr kumimoji="1" lang="en" altLang="zh-CN" dirty="0"/>
              <a:t>, also ranked high, whereas simpler models such as Naïve Bayes, KNN, suffered from class imbalance because of the few strong-quake samples, and intricate feature interactions. The radar chart shows Random Forest is the most balanced and reliable choice across all metrics.</a:t>
            </a:r>
            <a:endParaRPr kumimoji="1" lang="zh-CN" altLang="en-US" dirty="0"/>
          </a:p>
        </p:txBody>
      </p:sp>
      <p:sp>
        <p:nvSpPr>
          <p:cNvPr id="4" name="灯片编号占位符 3"/>
          <p:cNvSpPr>
            <a:spLocks noGrp="1"/>
          </p:cNvSpPr>
          <p:nvPr>
            <p:ph type="sldNum" sz="quarter" idx="5"/>
          </p:nvPr>
        </p:nvSpPr>
        <p:spPr/>
        <p:txBody>
          <a:bodyPr/>
          <a:lstStyle/>
          <a:p>
            <a:fld id="{86A892A7-4B34-49B6-B80B-094B23E54580}" type="slidenum">
              <a:rPr lang="zh-CN" altLang="en-US" smtClean="0"/>
              <a:t>10</a:t>
            </a:fld>
            <a:endParaRPr lang="zh-CN" altLang="en-US"/>
          </a:p>
        </p:txBody>
      </p:sp>
    </p:spTree>
    <p:extLst>
      <p:ext uri="{BB962C8B-B14F-4D97-AF65-F5344CB8AC3E}">
        <p14:creationId xmlns:p14="http://schemas.microsoft.com/office/powerpoint/2010/main" val="26282284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dirty="0"/>
              <a:t>Here shows regression models.</a:t>
            </a:r>
          </a:p>
        </p:txBody>
      </p:sp>
      <p:sp>
        <p:nvSpPr>
          <p:cNvPr id="4" name="灯片编号占位符 3"/>
          <p:cNvSpPr>
            <a:spLocks noGrp="1"/>
          </p:cNvSpPr>
          <p:nvPr>
            <p:ph type="sldNum" sz="quarter" idx="5"/>
          </p:nvPr>
        </p:nvSpPr>
        <p:spPr/>
        <p:txBody>
          <a:bodyPr/>
          <a:lstStyle/>
          <a:p>
            <a:fld id="{86A892A7-4B34-49B6-B80B-094B23E54580}" type="slidenum">
              <a:rPr lang="zh-CN" altLang="en-US" smtClean="0"/>
              <a:t>11</a:t>
            </a:fld>
            <a:endParaRPr lang="zh-CN" altLang="en-US"/>
          </a:p>
        </p:txBody>
      </p:sp>
    </p:spTree>
    <p:extLst>
      <p:ext uri="{BB962C8B-B14F-4D97-AF65-F5344CB8AC3E}">
        <p14:creationId xmlns:p14="http://schemas.microsoft.com/office/powerpoint/2010/main" val="40474221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dirty="0"/>
              <a:t>These results benchmark 12 regression models for predicting earthquake magnitude, evaluated by R² and MAE. Gradient Boosting tops the list having the R² equals to 0.497 and low MAE, outperforming </a:t>
            </a:r>
            <a:r>
              <a:rPr kumimoji="1" lang="en" altLang="zh-CN" dirty="0" err="1"/>
              <a:t>XGBoost</a:t>
            </a:r>
            <a:r>
              <a:rPr kumimoji="1" lang="en" altLang="zh-CN" dirty="0"/>
              <a:t> and Random Forest. Tree-based ensembles excel because they capture nonlinear links between features—spatial clusters, seismic lags—and magnitude, whereas linear models such as Linear Regression cannot fit such complex </a:t>
            </a:r>
            <a:r>
              <a:rPr kumimoji="1" lang="en" altLang="zh-CN" dirty="0" err="1"/>
              <a:t>seismo</a:t>
            </a:r>
            <a:r>
              <a:rPr kumimoji="1" lang="en" altLang="zh-CN" dirty="0"/>
              <a:t>-patterns. Feature-importance analysis shows spatial clusters and rolling statistics, that is, 90-day magnitude trend, are the most predictive. Key contributors are “Rolling_Std_Mag_90”, that is, 90-event standard deviation, and “Depth_Lag_1”, that is, lagged focal depth, underscoring the value of recent seismic volatility and depth variations. Yet the best R² reaches only 0.497, reflecting magnitude’s intrinsic randomness and unmeasured geologic drivers such as fault mechanics.</a:t>
            </a:r>
            <a:endParaRPr kumimoji="1" lang="zh-CN" altLang="en-US" dirty="0"/>
          </a:p>
        </p:txBody>
      </p:sp>
      <p:sp>
        <p:nvSpPr>
          <p:cNvPr id="4" name="灯片编号占位符 3"/>
          <p:cNvSpPr>
            <a:spLocks noGrp="1"/>
          </p:cNvSpPr>
          <p:nvPr>
            <p:ph type="sldNum" sz="quarter" idx="5"/>
          </p:nvPr>
        </p:nvSpPr>
        <p:spPr/>
        <p:txBody>
          <a:bodyPr/>
          <a:lstStyle/>
          <a:p>
            <a:fld id="{86A892A7-4B34-49B6-B80B-094B23E54580}" type="slidenum">
              <a:rPr lang="zh-CN" altLang="en-US" smtClean="0"/>
              <a:t>12</a:t>
            </a:fld>
            <a:endParaRPr lang="zh-CN" altLang="en-US"/>
          </a:p>
        </p:txBody>
      </p:sp>
    </p:spTree>
    <p:extLst>
      <p:ext uri="{BB962C8B-B14F-4D97-AF65-F5344CB8AC3E}">
        <p14:creationId xmlns:p14="http://schemas.microsoft.com/office/powerpoint/2010/main" val="19717039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dirty="0"/>
              <a:t>Here shows clustering models.</a:t>
            </a:r>
          </a:p>
        </p:txBody>
      </p:sp>
      <p:sp>
        <p:nvSpPr>
          <p:cNvPr id="4" name="灯片编号占位符 3"/>
          <p:cNvSpPr>
            <a:spLocks noGrp="1"/>
          </p:cNvSpPr>
          <p:nvPr>
            <p:ph type="sldNum" sz="quarter" idx="5"/>
          </p:nvPr>
        </p:nvSpPr>
        <p:spPr/>
        <p:txBody>
          <a:bodyPr/>
          <a:lstStyle/>
          <a:p>
            <a:fld id="{86A892A7-4B34-49B6-B80B-094B23E54580}" type="slidenum">
              <a:rPr lang="zh-CN" altLang="en-US" smtClean="0"/>
              <a:t>13</a:t>
            </a:fld>
            <a:endParaRPr lang="zh-CN" altLang="en-US"/>
          </a:p>
        </p:txBody>
      </p:sp>
    </p:spTree>
    <p:extLst>
      <p:ext uri="{BB962C8B-B14F-4D97-AF65-F5344CB8AC3E}">
        <p14:creationId xmlns:p14="http://schemas.microsoft.com/office/powerpoint/2010/main" val="27088409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dirty="0"/>
              <a:t>These results derive from spatial clustering of earthquake locations, that is, DBSCAN and </a:t>
            </a:r>
            <a:r>
              <a:rPr kumimoji="1" lang="en" altLang="zh-CN" dirty="0" err="1"/>
              <a:t>KMeans</a:t>
            </a:r>
            <a:r>
              <a:rPr kumimoji="1" lang="en" altLang="zh-CN" dirty="0"/>
              <a:t>. The optimal number of clusters for </a:t>
            </a:r>
            <a:r>
              <a:rPr kumimoji="1" lang="en" altLang="zh-CN" dirty="0" err="1"/>
              <a:t>KMeans</a:t>
            </a:r>
            <a:r>
              <a:rPr kumimoji="1" lang="en" altLang="zh-CN" dirty="0"/>
              <a:t> was chosen via the elbow method and silhouette score. DBSCAN identified 5 clusters including noise by aggregating dense spatial regions, suitable for detecting natural seismic clusters such as tectonic belts. </a:t>
            </a:r>
            <a:r>
              <a:rPr kumimoji="1" lang="en" altLang="zh-CN" dirty="0" err="1"/>
              <a:t>KMeans</a:t>
            </a:r>
            <a:r>
              <a:rPr kumimoji="1" lang="en" altLang="zh-CN" dirty="0"/>
              <a:t> splits the data into two large regions based on centroid distance, simplifying the spatial pattern. Each approach has its merits: DBSCAN accommodates irregular cluster shapes common in geology, whereas </a:t>
            </a:r>
            <a:r>
              <a:rPr kumimoji="1" lang="en" altLang="zh-CN" dirty="0" err="1"/>
              <a:t>KMeans</a:t>
            </a:r>
            <a:r>
              <a:rPr kumimoji="1" lang="en" altLang="zh-CN" dirty="0"/>
              <a:t> produces balanced clusters. Both reveal spatial aggregation; for instance, the dense yellow cluster in </a:t>
            </a:r>
            <a:r>
              <a:rPr kumimoji="1" lang="en" altLang="zh-CN" dirty="0" err="1"/>
              <a:t>KMeans</a:t>
            </a:r>
            <a:r>
              <a:rPr kumimoji="1" lang="en" altLang="zh-CN" dirty="0"/>
              <a:t> and the large orange cluster in DBSCAN align with observed seismic hotspots. Clustering shows the primary high-risk zone lies at 50 to 150 degrees east  and 0–80 degrees north which can be seen in the yellow cluster in </a:t>
            </a:r>
            <a:r>
              <a:rPr kumimoji="1" lang="en" altLang="zh-CN" dirty="0" err="1"/>
              <a:t>KMeans</a:t>
            </a:r>
            <a:r>
              <a:rPr kumimoji="1" lang="en" altLang="zh-CN" dirty="0"/>
              <a:t>, orange cluster in DBSCAN; the secondary high-risk zone is at 100 to 150 degrees west and 0 to 40 degrees south which can be seen in the purple cluster in </a:t>
            </a:r>
            <a:r>
              <a:rPr kumimoji="1" lang="en" altLang="zh-CN" dirty="0" err="1"/>
              <a:t>KMeans</a:t>
            </a:r>
            <a:r>
              <a:rPr kumimoji="1" lang="en" altLang="zh-CN" dirty="0"/>
              <a:t>. Earthquakes elsewhere are comparatively scattered, you can see gray noise points in DBSCAN. These findings accord with the real-world rule that earthquakes concentrate along plate boundaries.</a:t>
            </a:r>
            <a:endParaRPr kumimoji="1" lang="zh-CN" altLang="en-US" dirty="0"/>
          </a:p>
        </p:txBody>
      </p:sp>
      <p:sp>
        <p:nvSpPr>
          <p:cNvPr id="4" name="灯片编号占位符 3"/>
          <p:cNvSpPr>
            <a:spLocks noGrp="1"/>
          </p:cNvSpPr>
          <p:nvPr>
            <p:ph type="sldNum" sz="quarter" idx="5"/>
          </p:nvPr>
        </p:nvSpPr>
        <p:spPr/>
        <p:txBody>
          <a:bodyPr/>
          <a:lstStyle/>
          <a:p>
            <a:fld id="{86A892A7-4B34-49B6-B80B-094B23E54580}" type="slidenum">
              <a:rPr lang="zh-CN" altLang="en-US" smtClean="0"/>
              <a:t>14</a:t>
            </a:fld>
            <a:endParaRPr lang="zh-CN" altLang="en-US"/>
          </a:p>
        </p:txBody>
      </p:sp>
    </p:spTree>
    <p:extLst>
      <p:ext uri="{BB962C8B-B14F-4D97-AF65-F5344CB8AC3E}">
        <p14:creationId xmlns:p14="http://schemas.microsoft.com/office/powerpoint/2010/main" val="30007020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r>
              <a:rPr kumimoji="1" lang="en" altLang="zh-CN" dirty="0">
                <a:solidFill>
                  <a:srgbClr val="FF0000"/>
                </a:solidFill>
                <a:latin typeface="Palatino" pitchFamily="2" charset="0"/>
                <a:ea typeface="Palatino" pitchFamily="2" charset="0"/>
              </a:rPr>
              <a:t>Here is the results summary.</a:t>
            </a:r>
          </a:p>
          <a:p>
            <a:pPr>
              <a:lnSpc>
                <a:spcPct val="150000"/>
              </a:lnSpc>
            </a:pPr>
            <a:r>
              <a:rPr kumimoji="1" lang="en" altLang="zh-CN" dirty="0">
                <a:solidFill>
                  <a:srgbClr val="FF0000"/>
                </a:solidFill>
                <a:latin typeface="Palatino" pitchFamily="2" charset="0"/>
                <a:ea typeface="Palatino" pitchFamily="2" charset="0"/>
              </a:rPr>
              <a:t>About the Classification</a:t>
            </a:r>
            <a:r>
              <a:rPr kumimoji="1" lang="en" altLang="zh-CN" dirty="0">
                <a:latin typeface="Palatino" pitchFamily="2" charset="0"/>
                <a:ea typeface="Palatino" pitchFamily="2" charset="0"/>
              </a:rPr>
              <a:t> Model: it is t</a:t>
            </a:r>
            <a:r>
              <a:rPr lang="en" altLang="zh-CN" dirty="0">
                <a:latin typeface="Palatino" pitchFamily="2" charset="0"/>
                <a:ea typeface="Palatino" pitchFamily="2" charset="0"/>
              </a:rPr>
              <a:t>o predict whether </a:t>
            </a:r>
            <a:r>
              <a:rPr lang="en" altLang="zh-CN" sz="1200" kern="1200" dirty="0">
                <a:solidFill>
                  <a:schemeClr val="tx1"/>
                </a:solidFill>
                <a:latin typeface="Palatino" pitchFamily="2" charset="0"/>
                <a:ea typeface="Palatino" pitchFamily="2" charset="0"/>
                <a:cs typeface="+mn-cs"/>
              </a:rPr>
              <a:t>"major earthquakes”. Random Forest achieved the best performance.</a:t>
            </a:r>
          </a:p>
          <a:p>
            <a:pPr>
              <a:lnSpc>
                <a:spcPct val="150000"/>
              </a:lnSpc>
            </a:pPr>
            <a:r>
              <a:rPr lang="en" altLang="zh-CN" sz="1200" kern="1200" dirty="0">
                <a:solidFill>
                  <a:schemeClr val="tx1"/>
                </a:solidFill>
                <a:latin typeface="Palatino" pitchFamily="2" charset="0"/>
                <a:ea typeface="Palatino" pitchFamily="2" charset="0"/>
                <a:cs typeface="+mn-cs"/>
              </a:rPr>
              <a:t>About the Regression Model: it is to predict earthquake magnitude. Gradient Boosting performed best.</a:t>
            </a:r>
          </a:p>
          <a:p>
            <a:pPr>
              <a:lnSpc>
                <a:spcPct val="150000"/>
              </a:lnSpc>
            </a:pPr>
            <a:r>
              <a:rPr lang="en" altLang="zh-CN" sz="1200" kern="1200" dirty="0">
                <a:solidFill>
                  <a:schemeClr val="tx1"/>
                </a:solidFill>
                <a:latin typeface="Palatino" pitchFamily="2" charset="0"/>
                <a:ea typeface="Palatino" pitchFamily="2" charset="0"/>
                <a:cs typeface="+mn-cs"/>
              </a:rPr>
              <a:t>About the Clustering Model, it is Spatial analysis identified 5 to 8 seismic clusters, with </a:t>
            </a:r>
            <a:r>
              <a:rPr lang="en" altLang="zh-CN" sz="1200" kern="1200" dirty="0" err="1">
                <a:solidFill>
                  <a:schemeClr val="tx1"/>
                </a:solidFill>
                <a:latin typeface="Palatino" pitchFamily="2" charset="0"/>
                <a:ea typeface="Palatino" pitchFamily="2" charset="0"/>
                <a:cs typeface="+mn-cs"/>
              </a:rPr>
              <a:t>KMeans</a:t>
            </a:r>
            <a:r>
              <a:rPr lang="en" altLang="zh-CN" sz="1200" kern="1200" dirty="0">
                <a:solidFill>
                  <a:schemeClr val="tx1"/>
                </a:solidFill>
                <a:latin typeface="Palatino" pitchFamily="2" charset="0"/>
                <a:ea typeface="Palatino" pitchFamily="2" charset="0"/>
                <a:cs typeface="+mn-cs"/>
              </a:rPr>
              <a:t> showing clearer spatial patterns.</a:t>
            </a:r>
          </a:p>
          <a:p>
            <a:endParaRPr kumimoji="1" lang="zh-CN" altLang="en-US" dirty="0"/>
          </a:p>
        </p:txBody>
      </p:sp>
      <p:sp>
        <p:nvSpPr>
          <p:cNvPr id="4" name="灯片编号占位符 3"/>
          <p:cNvSpPr>
            <a:spLocks noGrp="1"/>
          </p:cNvSpPr>
          <p:nvPr>
            <p:ph type="sldNum" sz="quarter" idx="5"/>
          </p:nvPr>
        </p:nvSpPr>
        <p:spPr/>
        <p:txBody>
          <a:bodyPr/>
          <a:lstStyle/>
          <a:p>
            <a:fld id="{86A892A7-4B34-49B6-B80B-094B23E54580}" type="slidenum">
              <a:rPr lang="zh-CN" altLang="en-US" smtClean="0"/>
              <a:t>15</a:t>
            </a:fld>
            <a:endParaRPr lang="zh-CN" altLang="en-US"/>
          </a:p>
        </p:txBody>
      </p:sp>
    </p:spTree>
    <p:extLst>
      <p:ext uri="{BB962C8B-B14F-4D97-AF65-F5344CB8AC3E}">
        <p14:creationId xmlns:p14="http://schemas.microsoft.com/office/powerpoint/2010/main" val="39090088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sz="1200" b="0" i="0" u="none" strike="noStrike" kern="1200" dirty="0">
                <a:solidFill>
                  <a:schemeClr val="tx1"/>
                </a:solidFill>
                <a:effectLst/>
                <a:latin typeface="+mn-lt"/>
                <a:ea typeface="+mn-ea"/>
                <a:cs typeface="+mn-cs"/>
              </a:rPr>
              <a:t>Here comes to the key findings.</a:t>
            </a:r>
          </a:p>
          <a:p>
            <a:r>
              <a:rPr lang="en" altLang="zh-CN" sz="1200" b="0" i="0" u="none" strike="noStrike" kern="1200" dirty="0">
                <a:solidFill>
                  <a:schemeClr val="tx1"/>
                </a:solidFill>
                <a:effectLst/>
                <a:latin typeface="+mn-lt"/>
                <a:ea typeface="+mn-ea"/>
                <a:cs typeface="+mn-cs"/>
              </a:rPr>
              <a:t>We find that tree ensembles beat linear models; space clusters, lagged magnitude and depth and rolling stats matter most. Quakes pile up along 0 to 50 degrees north, matching plate edges; flagging after-shocks sharpens accuracy.</a:t>
            </a:r>
            <a:endParaRPr kumimoji="1" lang="zh-CN" altLang="en-US" dirty="0"/>
          </a:p>
        </p:txBody>
      </p:sp>
      <p:sp>
        <p:nvSpPr>
          <p:cNvPr id="4" name="灯片编号占位符 3"/>
          <p:cNvSpPr>
            <a:spLocks noGrp="1"/>
          </p:cNvSpPr>
          <p:nvPr>
            <p:ph type="sldNum" sz="quarter" idx="5"/>
          </p:nvPr>
        </p:nvSpPr>
        <p:spPr/>
        <p:txBody>
          <a:bodyPr/>
          <a:lstStyle/>
          <a:p>
            <a:fld id="{86A892A7-4B34-49B6-B80B-094B23E54580}" type="slidenum">
              <a:rPr lang="zh-CN" altLang="en-US" smtClean="0"/>
              <a:t>16</a:t>
            </a:fld>
            <a:endParaRPr lang="zh-CN" altLang="en-US"/>
          </a:p>
        </p:txBody>
      </p:sp>
    </p:spTree>
    <p:extLst>
      <p:ext uri="{BB962C8B-B14F-4D97-AF65-F5344CB8AC3E}">
        <p14:creationId xmlns:p14="http://schemas.microsoft.com/office/powerpoint/2010/main" val="20891928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fontAlgn="base"/>
            <a:r>
              <a:rPr lang="en" altLang="zh-CN" sz="1200" b="0" i="0" u="none" strike="noStrike" kern="1200" dirty="0">
                <a:solidFill>
                  <a:schemeClr val="tx1"/>
                </a:solidFill>
                <a:effectLst/>
                <a:latin typeface="+mn-lt"/>
                <a:ea typeface="+mn-ea"/>
                <a:cs typeface="+mn-cs"/>
              </a:rPr>
              <a:t>Here comes to the limitation:</a:t>
            </a:r>
          </a:p>
          <a:p>
            <a:pPr fontAlgn="base"/>
            <a:r>
              <a:rPr lang="en" altLang="zh-CN" sz="1200" b="0" i="0" u="none" strike="noStrike" kern="1200" dirty="0">
                <a:solidFill>
                  <a:schemeClr val="tx1"/>
                </a:solidFill>
                <a:effectLst/>
                <a:latin typeface="+mn-lt"/>
                <a:ea typeface="+mn-ea"/>
                <a:cs typeface="+mn-cs"/>
              </a:rPr>
              <a:t>There have Tiny data, missing geology, low R², rare big-quake labels, and geology-blind clusters keep models humble; also no external test set proves they work beyond this spreadsheet.</a:t>
            </a:r>
          </a:p>
        </p:txBody>
      </p:sp>
      <p:sp>
        <p:nvSpPr>
          <p:cNvPr id="4" name="灯片编号占位符 3"/>
          <p:cNvSpPr>
            <a:spLocks noGrp="1"/>
          </p:cNvSpPr>
          <p:nvPr>
            <p:ph type="sldNum" sz="quarter" idx="5"/>
          </p:nvPr>
        </p:nvSpPr>
        <p:spPr/>
        <p:txBody>
          <a:bodyPr/>
          <a:lstStyle/>
          <a:p>
            <a:fld id="{86A892A7-4B34-49B6-B80B-094B23E54580}" type="slidenum">
              <a:rPr lang="zh-CN" altLang="en-US" smtClean="0"/>
              <a:t>17</a:t>
            </a:fld>
            <a:endParaRPr lang="zh-CN" altLang="en-US"/>
          </a:p>
        </p:txBody>
      </p:sp>
    </p:spTree>
    <p:extLst>
      <p:ext uri="{BB962C8B-B14F-4D97-AF65-F5344CB8AC3E}">
        <p14:creationId xmlns:p14="http://schemas.microsoft.com/office/powerpoint/2010/main" val="17268627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Thank you for your watching and listening.</a:t>
            </a:r>
            <a:endParaRPr kumimoji="1" lang="zh-CN" altLang="en-US" dirty="0"/>
          </a:p>
        </p:txBody>
      </p:sp>
      <p:sp>
        <p:nvSpPr>
          <p:cNvPr id="4" name="灯片编号占位符 3"/>
          <p:cNvSpPr>
            <a:spLocks noGrp="1"/>
          </p:cNvSpPr>
          <p:nvPr>
            <p:ph type="sldNum" sz="quarter" idx="5"/>
          </p:nvPr>
        </p:nvSpPr>
        <p:spPr/>
        <p:txBody>
          <a:bodyPr/>
          <a:lstStyle/>
          <a:p>
            <a:fld id="{86A892A7-4B34-49B6-B80B-094B23E54580}" type="slidenum">
              <a:rPr lang="zh-CN" altLang="en-US" smtClean="0"/>
              <a:t>18</a:t>
            </a:fld>
            <a:endParaRPr lang="zh-CN" altLang="en-US"/>
          </a:p>
        </p:txBody>
      </p:sp>
    </p:spTree>
    <p:extLst>
      <p:ext uri="{BB962C8B-B14F-4D97-AF65-F5344CB8AC3E}">
        <p14:creationId xmlns:p14="http://schemas.microsoft.com/office/powerpoint/2010/main" val="2098652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0A50CF25-F9B6-EA4B-991F-E50888CA6F87}" type="slidenum">
              <a:rPr lang="en-US" smtClean="0"/>
              <a:t>‹#›</a:t>
            </a:fld>
            <a:endParaRPr lang="en-US"/>
          </a:p>
        </p:txBody>
      </p:sp>
      <p:sp>
        <p:nvSpPr>
          <p:cNvPr id="4" name="Date Placeholder 3"/>
          <p:cNvSpPr>
            <a:spLocks noGrp="1"/>
          </p:cNvSpPr>
          <p:nvPr>
            <p:ph type="dt" sz="half" idx="11"/>
          </p:nvPr>
        </p:nvSpPr>
        <p:spPr/>
        <p:txBody>
          <a:bodyPr/>
          <a:lstStyle/>
          <a:p>
            <a:fld id="{D2DE24AE-34CD-4940-BD15-B725A5FBB929}" type="datetime1">
              <a:rPr lang="en-US" altLang="zh-CN" smtClean="0"/>
              <a:t>12/14/25</a:t>
            </a:fld>
            <a:endParaRPr lang="en-US"/>
          </a:p>
        </p:txBody>
      </p:sp>
      <p:sp>
        <p:nvSpPr>
          <p:cNvPr id="5" name="Text Placeholder 7"/>
          <p:cNvSpPr>
            <a:spLocks noGrp="1"/>
          </p:cNvSpPr>
          <p:nvPr>
            <p:ph idx="1"/>
          </p:nvPr>
        </p:nvSpPr>
        <p:spPr>
          <a:xfrm>
            <a:off x="838200" y="3659218"/>
            <a:ext cx="10515600" cy="14672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Slide Number Placeholder 2"/>
          <p:cNvSpPr>
            <a:spLocks noGrp="1"/>
          </p:cNvSpPr>
          <p:nvPr>
            <p:ph type="sldNum" sz="quarter" idx="10"/>
          </p:nvPr>
        </p:nvSpPr>
        <p:spPr/>
        <p:txBody>
          <a:bodyPr/>
          <a:lstStyle/>
          <a:p>
            <a:fld id="{0A50CF25-F9B6-EA4B-991F-E50888CA6F87}" type="slidenum">
              <a:rPr lang="en-US" smtClean="0"/>
              <a:t>‹#›</a:t>
            </a:fld>
            <a:endParaRPr lang="en-US"/>
          </a:p>
        </p:txBody>
      </p:sp>
      <p:sp>
        <p:nvSpPr>
          <p:cNvPr id="4" name="Date Placeholder 3"/>
          <p:cNvSpPr>
            <a:spLocks noGrp="1"/>
          </p:cNvSpPr>
          <p:nvPr>
            <p:ph type="dt" sz="half" idx="11"/>
          </p:nvPr>
        </p:nvSpPr>
        <p:spPr/>
        <p:txBody>
          <a:bodyPr/>
          <a:lstStyle/>
          <a:p>
            <a:fld id="{9A44EC55-A5CE-3B42-93D4-76B995307480}" type="datetime1">
              <a:rPr lang="en-US" smtClean="0"/>
              <a:t>12/14/25</a:t>
            </a:fld>
            <a:endParaRPr lang="en-US"/>
          </a:p>
        </p:txBody>
      </p:sp>
      <p:sp>
        <p:nvSpPr>
          <p:cNvPr id="5" name="Text Placeholder 7"/>
          <p:cNvSpPr>
            <a:spLocks noGrp="1"/>
          </p:cNvSpPr>
          <p:nvPr>
            <p:ph idx="1"/>
          </p:nvPr>
        </p:nvSpPr>
        <p:spPr>
          <a:xfrm>
            <a:off x="838200" y="3659218"/>
            <a:ext cx="10515600" cy="14672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4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359ACD4-C0BF-5A4F-8770-255E08A938D5}" type="datetime1">
              <a:rPr lang="en-US" smtClean="0"/>
              <a:t>12/14/25</a:t>
            </a:fld>
            <a:endParaRPr lang="en-US"/>
          </a:p>
        </p:txBody>
      </p:sp>
      <p:sp>
        <p:nvSpPr>
          <p:cNvPr id="4" name="Slide Number Placeholder 3"/>
          <p:cNvSpPr>
            <a:spLocks noGrp="1"/>
          </p:cNvSpPr>
          <p:nvPr>
            <p:ph type="sldNum" sz="quarter" idx="11"/>
          </p:nvPr>
        </p:nvSpPr>
        <p:spPr/>
        <p:txBody>
          <a:bodyPr/>
          <a:lstStyle/>
          <a:p>
            <a:fld id="{0A50CF25-F9B6-EA4B-991F-E50888CA6F87}" type="slidenum">
              <a:rPr lang="en-US" smtClean="0"/>
              <a:t>‹#›</a:t>
            </a:fld>
            <a:endParaRPr lang="en-US"/>
          </a:p>
        </p:txBody>
      </p:sp>
      <p:sp>
        <p:nvSpPr>
          <p:cNvPr id="2" name="Title 1"/>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7" name="Content Placeholder 6"/>
          <p:cNvSpPr>
            <a:spLocks noGrp="1"/>
          </p:cNvSpPr>
          <p:nvPr>
            <p:ph sz="quarter" idx="12"/>
          </p:nvPr>
        </p:nvSpPr>
        <p:spPr>
          <a:xfrm>
            <a:off x="838200" y="2627313"/>
            <a:ext cx="10515600" cy="30400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838200" y="3667919"/>
            <a:ext cx="10515600" cy="14267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Placeholder 8"/>
          <p:cNvSpPr>
            <a:spLocks noGrp="1"/>
          </p:cNvSpPr>
          <p:nvPr>
            <p:ph type="title"/>
          </p:nvPr>
        </p:nvSpPr>
        <p:spPr>
          <a:xfrm>
            <a:off x="838200" y="2569389"/>
            <a:ext cx="10515600" cy="1013469"/>
          </a:xfrm>
          <a:prstGeom prst="rect">
            <a:avLst/>
          </a:prstGeom>
        </p:spPr>
        <p:txBody>
          <a:bodyPr vert="horz" lIns="91440" tIns="45720" rIns="91440" bIns="45720" rtlCol="0" anchor="ctr">
            <a:normAutofit/>
          </a:bodyPr>
          <a:lstStyle/>
          <a:p>
            <a:r>
              <a:rPr lang="en-US" dirty="0"/>
              <a:t>Click to edit Master title style</a:t>
            </a:r>
          </a:p>
        </p:txBody>
      </p:sp>
      <p:sp>
        <p:nvSpPr>
          <p:cNvPr id="2" name="Slide Number Placeholder 1"/>
          <p:cNvSpPr>
            <a:spLocks noGrp="1"/>
          </p:cNvSpPr>
          <p:nvPr>
            <p:ph type="sldNum" sz="quarter" idx="4"/>
          </p:nvPr>
        </p:nvSpPr>
        <p:spPr>
          <a:xfrm>
            <a:off x="8610600" y="652110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50CF25-F9B6-EA4B-991F-E50888CA6F87}" type="slidenum">
              <a:rPr lang="en-US" smtClean="0"/>
              <a:t>‹#›</a:t>
            </a:fld>
            <a:endParaRPr lang="en-US"/>
          </a:p>
        </p:txBody>
      </p:sp>
      <p:sp>
        <p:nvSpPr>
          <p:cNvPr id="5" name="Date Placeholder 4"/>
          <p:cNvSpPr>
            <a:spLocks noGrp="1"/>
          </p:cNvSpPr>
          <p:nvPr>
            <p:ph type="dt" sz="half" idx="2"/>
          </p:nvPr>
        </p:nvSpPr>
        <p:spPr>
          <a:xfrm>
            <a:off x="838200" y="6522566"/>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02D75B-44DE-4D5E-9684-7F5063A70E71}" type="datetime1">
              <a:rPr lang="en-US" altLang="zh-CN" smtClean="0"/>
              <a:t>12/14/25</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838200" y="3667919"/>
            <a:ext cx="10515600" cy="14267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Placeholder 8"/>
          <p:cNvSpPr>
            <a:spLocks noGrp="1"/>
          </p:cNvSpPr>
          <p:nvPr>
            <p:ph type="title"/>
          </p:nvPr>
        </p:nvSpPr>
        <p:spPr>
          <a:xfrm>
            <a:off x="838200" y="2569389"/>
            <a:ext cx="10515600" cy="1013469"/>
          </a:xfrm>
          <a:prstGeom prst="rect">
            <a:avLst/>
          </a:prstGeom>
        </p:spPr>
        <p:txBody>
          <a:bodyPr vert="horz" lIns="91440" tIns="45720" rIns="91440" bIns="45720" rtlCol="0" anchor="ctr">
            <a:normAutofit/>
          </a:bodyPr>
          <a:lstStyle/>
          <a:p>
            <a:r>
              <a:rPr lang="en-US" dirty="0"/>
              <a:t>Click to edit Master title style</a:t>
            </a:r>
          </a:p>
        </p:txBody>
      </p:sp>
      <p:sp>
        <p:nvSpPr>
          <p:cNvPr id="2" name="Slide Number Placeholder 1"/>
          <p:cNvSpPr>
            <a:spLocks noGrp="1"/>
          </p:cNvSpPr>
          <p:nvPr>
            <p:ph type="sldNum" sz="quarter" idx="4"/>
          </p:nvPr>
        </p:nvSpPr>
        <p:spPr>
          <a:xfrm>
            <a:off x="8610600" y="652110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50CF25-F9B6-EA4B-991F-E50888CA6F87}" type="slidenum">
              <a:rPr lang="en-US" smtClean="0"/>
              <a:t>‹#›</a:t>
            </a:fld>
            <a:endParaRPr lang="en-US"/>
          </a:p>
        </p:txBody>
      </p:sp>
      <p:sp>
        <p:nvSpPr>
          <p:cNvPr id="5" name="Date Placeholder 4"/>
          <p:cNvSpPr>
            <a:spLocks noGrp="1"/>
          </p:cNvSpPr>
          <p:nvPr>
            <p:ph type="dt" sz="half" idx="2"/>
          </p:nvPr>
        </p:nvSpPr>
        <p:spPr>
          <a:xfrm>
            <a:off x="838200" y="6522566"/>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06E14B-A5C0-7C44-88C3-51ECD97D89CF}" type="datetime1">
              <a:rPr lang="en-US" smtClean="0"/>
              <a:t>12/14/25</a:t>
            </a:fld>
            <a:endParaRPr 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Lst>
  <p:hf sldNum="0"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https://www.cenc.ac.cn/earthquake-manage-publish-web/designated-catalogue"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23F2395-37CD-D6C0-F051-1F2AA587F584}"/>
              </a:ext>
            </a:extLst>
          </p:cNvPr>
          <p:cNvSpPr/>
          <p:nvPr/>
        </p:nvSpPr>
        <p:spPr>
          <a:xfrm>
            <a:off x="893428" y="1674674"/>
            <a:ext cx="8046177" cy="1754326"/>
          </a:xfrm>
          <a:prstGeom prst="rect">
            <a:avLst/>
          </a:prstGeom>
          <a:noFill/>
        </p:spPr>
        <p:txBody>
          <a:bodyPr wrap="square" lIns="91440" tIns="45720" rIns="91440" bIns="45720">
            <a:spAutoFit/>
          </a:bodyPr>
          <a:lstStyle/>
          <a:p>
            <a:pPr algn="ctr"/>
            <a:r>
              <a:rPr lang="en-US" altLang="zh-CN"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Earthquake Data Analysis and Prediction System</a:t>
            </a:r>
            <a:endParaRPr lang="zh-CN" alt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3" name="文本框 2">
            <a:extLst>
              <a:ext uri="{FF2B5EF4-FFF2-40B4-BE49-F238E27FC236}">
                <a16:creationId xmlns:a16="http://schemas.microsoft.com/office/drawing/2014/main" id="{9306D8D4-43A2-5813-72F9-6341042A4F47}"/>
              </a:ext>
            </a:extLst>
          </p:cNvPr>
          <p:cNvSpPr txBox="1"/>
          <p:nvPr/>
        </p:nvSpPr>
        <p:spPr>
          <a:xfrm>
            <a:off x="8368496" y="3429000"/>
            <a:ext cx="3680750" cy="2031325"/>
          </a:xfrm>
          <a:prstGeom prst="rect">
            <a:avLst/>
          </a:prstGeom>
          <a:noFill/>
        </p:spPr>
        <p:txBody>
          <a:bodyPr wrap="square" rtlCol="0">
            <a:spAutoFit/>
          </a:bodyPr>
          <a:lstStyle/>
          <a:p>
            <a:r>
              <a:rPr kumimoji="1" lang="en-US" altLang="zh-CN" dirty="0">
                <a:solidFill>
                  <a:schemeClr val="bg1"/>
                </a:solidFill>
              </a:rPr>
              <a:t>Speaker: </a:t>
            </a:r>
            <a:r>
              <a:rPr kumimoji="1" lang="en-US" altLang="zh-CN" dirty="0" err="1">
                <a:solidFill>
                  <a:schemeClr val="bg1"/>
                </a:solidFill>
              </a:rPr>
              <a:t>RuqianZHANG</a:t>
            </a:r>
            <a:endParaRPr kumimoji="1" lang="en-US" altLang="zh-CN" dirty="0">
              <a:solidFill>
                <a:schemeClr val="bg1"/>
              </a:solidFill>
            </a:endParaRPr>
          </a:p>
          <a:p>
            <a:endParaRPr kumimoji="1" lang="en-US" altLang="zh-CN" dirty="0">
              <a:solidFill>
                <a:schemeClr val="bg1"/>
              </a:solidFill>
            </a:endParaRPr>
          </a:p>
          <a:p>
            <a:r>
              <a:rPr kumimoji="1" lang="en-US" altLang="zh-CN" dirty="0">
                <a:solidFill>
                  <a:schemeClr val="bg1"/>
                </a:solidFill>
              </a:rPr>
              <a:t>Group members:</a:t>
            </a:r>
          </a:p>
          <a:p>
            <a:r>
              <a:rPr kumimoji="1" lang="en-US" altLang="zh-CN" dirty="0">
                <a:solidFill>
                  <a:schemeClr val="bg1"/>
                </a:solidFill>
              </a:rPr>
              <a:t>MC564826 </a:t>
            </a:r>
            <a:r>
              <a:rPr kumimoji="1" lang="en-US" altLang="zh-CN" dirty="0" err="1">
                <a:solidFill>
                  <a:schemeClr val="bg1"/>
                </a:solidFill>
              </a:rPr>
              <a:t>AiwenLI</a:t>
            </a:r>
            <a:endParaRPr kumimoji="1" lang="en-US" altLang="zh-CN" dirty="0">
              <a:solidFill>
                <a:schemeClr val="bg1"/>
              </a:solidFill>
            </a:endParaRPr>
          </a:p>
          <a:p>
            <a:r>
              <a:rPr kumimoji="1" lang="en-US" altLang="zh-CN" dirty="0">
                <a:solidFill>
                  <a:schemeClr val="bg1"/>
                </a:solidFill>
              </a:rPr>
              <a:t>MC567431 </a:t>
            </a:r>
            <a:r>
              <a:rPr kumimoji="1" lang="en-US" altLang="zh-CN" dirty="0" err="1">
                <a:solidFill>
                  <a:schemeClr val="bg1"/>
                </a:solidFill>
              </a:rPr>
              <a:t>XinweiZENG</a:t>
            </a:r>
            <a:endParaRPr kumimoji="1" lang="en-US" altLang="zh-CN" dirty="0">
              <a:solidFill>
                <a:schemeClr val="bg1"/>
              </a:solidFill>
            </a:endParaRPr>
          </a:p>
          <a:p>
            <a:r>
              <a:rPr kumimoji="1" lang="en" altLang="zh-CN" dirty="0">
                <a:solidFill>
                  <a:schemeClr val="bg1"/>
                </a:solidFill>
              </a:rPr>
              <a:t>MC564892 </a:t>
            </a:r>
            <a:r>
              <a:rPr kumimoji="1" lang="en" altLang="zh-CN" dirty="0" err="1">
                <a:solidFill>
                  <a:schemeClr val="bg1"/>
                </a:solidFill>
              </a:rPr>
              <a:t>ZiyiCAI</a:t>
            </a:r>
            <a:endParaRPr kumimoji="1" lang="en" altLang="zh-CN" dirty="0">
              <a:solidFill>
                <a:schemeClr val="bg1"/>
              </a:solidFill>
            </a:endParaRPr>
          </a:p>
          <a:p>
            <a:r>
              <a:rPr kumimoji="1" lang="en" altLang="zh-CN" dirty="0">
                <a:solidFill>
                  <a:schemeClr val="bg1"/>
                </a:solidFill>
              </a:rPr>
              <a:t>MC567468 </a:t>
            </a:r>
            <a:r>
              <a:rPr kumimoji="1" lang="en" altLang="zh-CN" dirty="0" err="1">
                <a:solidFill>
                  <a:schemeClr val="bg1"/>
                </a:solidFill>
              </a:rPr>
              <a:t>RuqianZHANG</a:t>
            </a:r>
            <a:endParaRPr kumimoji="1" lang="zh-CN" altLang="en-US"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2120" y="136525"/>
            <a:ext cx="10515600" cy="1013469"/>
          </a:xfrm>
        </p:spPr>
        <p:txBody>
          <a:bodyPr/>
          <a:lstStyle/>
          <a:p>
            <a:pPr algn="ctr"/>
            <a:r>
              <a:rPr lang="en-US" altLang="zh-CN" sz="5400" b="1" dirty="0">
                <a:solidFill>
                  <a:srgbClr val="0E5E96"/>
                </a:solidFill>
                <a:latin typeface="Times New Roman" panose="02020603050405020304" pitchFamily="18" charset="0"/>
                <a:ea typeface="+mn-ea"/>
                <a:cs typeface="Times New Roman" panose="02020603050405020304" pitchFamily="18" charset="0"/>
              </a:rPr>
              <a:t>Content</a:t>
            </a:r>
            <a:endParaRPr lang="zh-CN" altLang="en-US" sz="3600" b="1" dirty="0">
              <a:solidFill>
                <a:srgbClr val="0E5E96"/>
              </a:solidFill>
              <a:latin typeface="Times New Roman" panose="02020603050405020304" pitchFamily="18" charset="0"/>
              <a:ea typeface="+mn-ea"/>
              <a:cs typeface="Times New Roman" panose="02020603050405020304" pitchFamily="18" charset="0"/>
            </a:endParaRPr>
          </a:p>
        </p:txBody>
      </p:sp>
      <p:sp>
        <p:nvSpPr>
          <p:cNvPr id="3" name="灯片编号占位符 1"/>
          <p:cNvSpPr>
            <a:spLocks noGrp="1"/>
          </p:cNvSpPr>
          <p:nvPr>
            <p:ph type="sldNum" sz="quarter" idx="11"/>
          </p:nvPr>
        </p:nvSpPr>
        <p:spPr>
          <a:xfrm>
            <a:off x="9013723" y="6356350"/>
            <a:ext cx="2743200" cy="365125"/>
          </a:xfr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50CF25-F9B6-EA4B-991F-E50888CA6F87}" type="slidenum">
              <a:rPr kumimoji="0" lang="en-US" sz="1800" b="1" i="0" u="none" strike="noStrike" kern="1200" cap="none" spc="0" normalizeH="0" baseline="0" noProof="0" smtClean="0">
                <a:ln>
                  <a:noFill/>
                </a:ln>
                <a:solidFill>
                  <a:prstClr val="white"/>
                </a:solidFill>
                <a:effectLst/>
                <a:uLnTx/>
                <a:uFillTx/>
                <a:latin typeface="Times New Roman" panose="02020603050405020304" pitchFamily="18" charset="0"/>
                <a:ea typeface="+mn-ea"/>
                <a:cs typeface="Times New Roman" panose="02020603050405020304" pitchFamily="18" charset="0"/>
              </a:rPr>
              <a:t>2</a:t>
            </a:fld>
            <a:endPar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6" name="文本框 5">
            <a:extLst>
              <a:ext uri="{FF2B5EF4-FFF2-40B4-BE49-F238E27FC236}">
                <a16:creationId xmlns:a16="http://schemas.microsoft.com/office/drawing/2014/main" id="{2062B5A4-EADF-497C-3ADB-717A0F44893C}"/>
              </a:ext>
            </a:extLst>
          </p:cNvPr>
          <p:cNvSpPr txBox="1"/>
          <p:nvPr/>
        </p:nvSpPr>
        <p:spPr>
          <a:xfrm>
            <a:off x="620110" y="1450428"/>
            <a:ext cx="10972800" cy="3747180"/>
          </a:xfrm>
          <a:prstGeom prst="rect">
            <a:avLst/>
          </a:prstGeom>
          <a:noFill/>
        </p:spPr>
        <p:txBody>
          <a:bodyPr wrap="square" rtlCol="0">
            <a:spAutoFit/>
          </a:bodyPr>
          <a:lstStyle/>
          <a:p>
            <a:pPr>
              <a:lnSpc>
                <a:spcPct val="150000"/>
              </a:lnSpc>
            </a:pPr>
            <a:r>
              <a:rPr kumimoji="1" lang="en-US" altLang="zh-CN" sz="2000" b="1" dirty="0">
                <a:latin typeface="Palatino" pitchFamily="2" charset="0"/>
                <a:ea typeface="Palatino" pitchFamily="2" charset="0"/>
              </a:rPr>
              <a:t>Prologue:</a:t>
            </a:r>
          </a:p>
          <a:p>
            <a:pPr>
              <a:lnSpc>
                <a:spcPct val="150000"/>
              </a:lnSpc>
            </a:pPr>
            <a:r>
              <a:rPr kumimoji="1" lang="en-US" altLang="zh-CN" sz="2000" dirty="0">
                <a:latin typeface="Palatino" pitchFamily="2" charset="0"/>
                <a:ea typeface="Palatino" pitchFamily="2" charset="0"/>
              </a:rPr>
              <a:t>	Motivation of the Project</a:t>
            </a:r>
          </a:p>
          <a:p>
            <a:pPr>
              <a:lnSpc>
                <a:spcPct val="150000"/>
              </a:lnSpc>
            </a:pPr>
            <a:r>
              <a:rPr kumimoji="1" lang="en-US" altLang="zh-CN" sz="2000" dirty="0">
                <a:latin typeface="Palatino" pitchFamily="2" charset="0"/>
                <a:ea typeface="Palatino" pitchFamily="2" charset="0"/>
              </a:rPr>
              <a:t>	Roles and Responsibilities of the Team</a:t>
            </a:r>
          </a:p>
          <a:p>
            <a:pPr>
              <a:lnSpc>
                <a:spcPct val="150000"/>
              </a:lnSpc>
            </a:pPr>
            <a:r>
              <a:rPr kumimoji="1" lang="en-US" altLang="zh-CN" sz="2000" b="1" dirty="0">
                <a:latin typeface="Palatino" pitchFamily="2" charset="0"/>
                <a:ea typeface="Palatino" pitchFamily="2" charset="0"/>
              </a:rPr>
              <a:t>Project:</a:t>
            </a:r>
          </a:p>
          <a:p>
            <a:pPr>
              <a:lnSpc>
                <a:spcPct val="150000"/>
              </a:lnSpc>
            </a:pPr>
            <a:r>
              <a:rPr kumimoji="1" lang="en-US" altLang="zh-CN" sz="2000" dirty="0">
                <a:latin typeface="Palatino" pitchFamily="2" charset="0"/>
                <a:ea typeface="Palatino" pitchFamily="2" charset="0"/>
              </a:rPr>
              <a:t>	What Have We Done</a:t>
            </a:r>
          </a:p>
          <a:p>
            <a:pPr>
              <a:lnSpc>
                <a:spcPct val="150000"/>
              </a:lnSpc>
            </a:pPr>
            <a:r>
              <a:rPr kumimoji="1" lang="en-US" altLang="zh-CN" sz="2000" dirty="0">
                <a:latin typeface="Palatino" pitchFamily="2" charset="0"/>
                <a:ea typeface="Palatino" pitchFamily="2" charset="0"/>
              </a:rPr>
              <a:t>	About the Dataset</a:t>
            </a:r>
          </a:p>
          <a:p>
            <a:pPr>
              <a:lnSpc>
                <a:spcPct val="150000"/>
              </a:lnSpc>
            </a:pPr>
            <a:r>
              <a:rPr kumimoji="1" lang="en-US" altLang="zh-CN" sz="2000" dirty="0">
                <a:latin typeface="Palatino" pitchFamily="2" charset="0"/>
                <a:ea typeface="Palatino" pitchFamily="2" charset="0"/>
              </a:rPr>
              <a:t>	Details</a:t>
            </a:r>
          </a:p>
          <a:p>
            <a:pPr>
              <a:lnSpc>
                <a:spcPct val="150000"/>
              </a:lnSpc>
            </a:pPr>
            <a:r>
              <a:rPr kumimoji="1" lang="en-US" altLang="zh-CN" sz="2000" dirty="0">
                <a:latin typeface="Palatino" pitchFamily="2" charset="0"/>
                <a:ea typeface="Palatino" pitchFamily="2" charset="0"/>
              </a:rPr>
              <a:t>	Conclusions and Findings</a:t>
            </a:r>
            <a:endParaRPr kumimoji="1" lang="en-US" altLang="zh-CN" dirty="0">
              <a:latin typeface="Palatino" pitchFamily="2" charset="0"/>
              <a:ea typeface="Palatino" pitchFamily="2"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5A640-A4A7-E4BF-C746-E34F9B51055B}"/>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426EE22B-B8D2-5DF8-C2F4-5B6E6B49A5AD}"/>
              </a:ext>
            </a:extLst>
          </p:cNvPr>
          <p:cNvSpPr txBox="1"/>
          <p:nvPr/>
        </p:nvSpPr>
        <p:spPr>
          <a:xfrm>
            <a:off x="127818" y="127819"/>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7C33754F-0050-3776-9CC9-FC95E638F8FA}"/>
              </a:ext>
            </a:extLst>
          </p:cNvPr>
          <p:cNvSpPr txBox="1"/>
          <p:nvPr/>
        </p:nvSpPr>
        <p:spPr>
          <a:xfrm>
            <a:off x="434873" y="-20568"/>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Motivation of the Project</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926D3B1B-AA91-814B-E6E9-04108AEF99B1}"/>
              </a:ext>
            </a:extLst>
          </p:cNvPr>
          <p:cNvSpPr>
            <a:spLocks noGrp="1"/>
          </p:cNvSpPr>
          <p:nvPr>
            <p:ph type="sldNum" sz="quarter" idx="11"/>
          </p:nvPr>
        </p:nvSpPr>
        <p:spPr>
          <a:xfrm>
            <a:off x="9013723" y="6356350"/>
            <a:ext cx="2743200" cy="365125"/>
          </a:xfr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50CF25-F9B6-EA4B-991F-E50888CA6F87}" type="slidenum">
              <a:rPr kumimoji="0" lang="en-US" sz="1800" b="1" i="0" u="none" strike="noStrike" kern="1200" cap="none" spc="0" normalizeH="0" baseline="0" noProof="0" smtClean="0">
                <a:ln>
                  <a:noFill/>
                </a:ln>
                <a:solidFill>
                  <a:prstClr val="white"/>
                </a:solidFill>
                <a:effectLst/>
                <a:uLnTx/>
                <a:uFillTx/>
                <a:latin typeface="Times New Roman" panose="02020603050405020304" pitchFamily="18" charset="0"/>
                <a:ea typeface="+mn-ea"/>
                <a:cs typeface="Times New Roman" panose="02020603050405020304" pitchFamily="18" charset="0"/>
              </a:rPr>
              <a:t>3</a:t>
            </a:fld>
            <a:endPar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3" name="文本框 2">
            <a:extLst>
              <a:ext uri="{FF2B5EF4-FFF2-40B4-BE49-F238E27FC236}">
                <a16:creationId xmlns:a16="http://schemas.microsoft.com/office/drawing/2014/main" id="{283DBFF6-8DEE-DEAB-2116-B00B1F917C8C}"/>
              </a:ext>
            </a:extLst>
          </p:cNvPr>
          <p:cNvSpPr txBox="1"/>
          <p:nvPr/>
        </p:nvSpPr>
        <p:spPr>
          <a:xfrm>
            <a:off x="434873" y="418924"/>
            <a:ext cx="11197525" cy="7017306"/>
          </a:xfrm>
          <a:prstGeom prst="rect">
            <a:avLst/>
          </a:prstGeom>
          <a:noFill/>
        </p:spPr>
        <p:txBody>
          <a:bodyPr wrap="square" rtlCol="0">
            <a:spAutoFit/>
          </a:bodyPr>
          <a:lstStyle/>
          <a:p>
            <a:pPr>
              <a:lnSpc>
                <a:spcPct val="150000"/>
              </a:lnSpc>
            </a:pPr>
            <a:r>
              <a:rPr lang="en" altLang="zh-CN" dirty="0">
                <a:latin typeface="Palatino" pitchFamily="2" charset="0"/>
                <a:ea typeface="Palatino" pitchFamily="2" charset="0"/>
              </a:rPr>
              <a:t>Our choice stems primarily from a natural scientific curiosity and its scientific significance: earthquakes, as an unsolved mystery, are among the deadliest natural disasters. In the 21st century alone, earthquakes have caused over 800,000 deaths. Earthquake prediction is considered the "holy grail" of Earth science. While we know we cannot "solve" this problem, systematically analyzing data and searching for patterns is itself a process of scientific exploration.</a:t>
            </a:r>
          </a:p>
          <a:p>
            <a:pPr>
              <a:lnSpc>
                <a:spcPct val="150000"/>
              </a:lnSpc>
            </a:pPr>
            <a:br>
              <a:rPr lang="en" altLang="zh-CN" dirty="0">
                <a:latin typeface="Palatino" pitchFamily="2" charset="0"/>
                <a:ea typeface="Palatino" pitchFamily="2" charset="0"/>
              </a:rPr>
            </a:br>
            <a:r>
              <a:rPr lang="en" altLang="zh-CN" dirty="0">
                <a:latin typeface="Palatino" pitchFamily="2" charset="0"/>
                <a:ea typeface="Palatino" pitchFamily="2" charset="0"/>
              </a:rPr>
              <a:t>We can't help but ask: Are these earthquakes isolated or interconnected? Why do large earthquakes seem to "cluster" together? Are there global earthquake triggering mechanisms that we don't yet understand? Do these regions correspond to the approximate directions of known seismic zones? Can we use algorithms to automatically identify them?</a:t>
            </a:r>
          </a:p>
          <a:p>
            <a:pPr>
              <a:lnSpc>
                <a:spcPct val="150000"/>
              </a:lnSpc>
            </a:pPr>
            <a:r>
              <a:rPr lang="en" altLang="zh-CN" dirty="0">
                <a:latin typeface="Palatino" pitchFamily="2" charset="0"/>
                <a:ea typeface="Palatino" pitchFamily="2" charset="0"/>
              </a:rPr>
              <a:t>Furthermore, the spatiotemporal "clustering patterns" of this narrative-rich data also intrigue us: Do earthquakes, like weather, have "active seasons" and "quiet seasons"? Are there predictable temporal patterns in seismic activity? For example, are earthquakes more likely to occur at certain times of day or in certain months of the year? The data itself tells a complex story about Earth's dynamics.</a:t>
            </a:r>
          </a:p>
          <a:p>
            <a:pPr>
              <a:lnSpc>
                <a:spcPct val="150000"/>
              </a:lnSpc>
            </a:pPr>
            <a:br>
              <a:rPr lang="en" altLang="zh-CN" dirty="0">
                <a:latin typeface="Palatino" pitchFamily="2" charset="0"/>
                <a:ea typeface="Palatino" pitchFamily="2" charset="0"/>
              </a:rPr>
            </a:br>
            <a:endParaRPr lang="en" altLang="zh-CN" dirty="0">
              <a:latin typeface="Palatino" pitchFamily="2" charset="0"/>
              <a:ea typeface="Palatino" pitchFamily="2" charset="0"/>
            </a:endParaRPr>
          </a:p>
          <a:p>
            <a:endParaRPr kumimoji="1" lang="zh-CN" altLang="en-US" dirty="0"/>
          </a:p>
        </p:txBody>
      </p:sp>
    </p:spTree>
    <p:extLst>
      <p:ext uri="{BB962C8B-B14F-4D97-AF65-F5344CB8AC3E}">
        <p14:creationId xmlns:p14="http://schemas.microsoft.com/office/powerpoint/2010/main" val="3322528762"/>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10FC8-25FC-E59B-2D27-EDC9D6F6E9D5}"/>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AF3A479E-07A3-0B30-C132-13D9DE3B7031}"/>
              </a:ext>
            </a:extLst>
          </p:cNvPr>
          <p:cNvSpPr txBox="1"/>
          <p:nvPr/>
        </p:nvSpPr>
        <p:spPr>
          <a:xfrm>
            <a:off x="127818" y="127819"/>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2A2BA0F9-9B4A-B716-B910-BE2AA64F0661}"/>
              </a:ext>
            </a:extLst>
          </p:cNvPr>
          <p:cNvSpPr txBox="1"/>
          <p:nvPr/>
        </p:nvSpPr>
        <p:spPr>
          <a:xfrm>
            <a:off x="434873" y="-20568"/>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Roles and Responsibilities of the Team</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962B8019-F371-25BA-6465-94167236546C}"/>
              </a:ext>
            </a:extLst>
          </p:cNvPr>
          <p:cNvSpPr>
            <a:spLocks noGrp="1"/>
          </p:cNvSpPr>
          <p:nvPr>
            <p:ph type="sldNum" sz="quarter" idx="11"/>
          </p:nvPr>
        </p:nvSpPr>
        <p:spPr>
          <a:xfrm>
            <a:off x="9013723" y="6356350"/>
            <a:ext cx="2743200" cy="365125"/>
          </a:xfr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50CF25-F9B6-EA4B-991F-E50888CA6F87}" type="slidenum">
              <a:rPr kumimoji="0" lang="en-US" sz="1800" b="1" i="0" u="none" strike="noStrike" kern="1200" cap="none" spc="0" normalizeH="0" baseline="0" noProof="0" smtClean="0">
                <a:ln>
                  <a:noFill/>
                </a:ln>
                <a:solidFill>
                  <a:prstClr val="white"/>
                </a:solidFill>
                <a:effectLst/>
                <a:uLnTx/>
                <a:uFillTx/>
                <a:latin typeface="Times New Roman" panose="02020603050405020304" pitchFamily="18" charset="0"/>
                <a:ea typeface="+mn-ea"/>
                <a:cs typeface="Times New Roman" panose="02020603050405020304" pitchFamily="18" charset="0"/>
              </a:rPr>
              <a:t>4</a:t>
            </a:fld>
            <a:endPar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3" name="文本框 2">
            <a:extLst>
              <a:ext uri="{FF2B5EF4-FFF2-40B4-BE49-F238E27FC236}">
                <a16:creationId xmlns:a16="http://schemas.microsoft.com/office/drawing/2014/main" id="{B8F8E5A8-74B0-74CD-FAF8-BFCE1696927E}"/>
              </a:ext>
            </a:extLst>
          </p:cNvPr>
          <p:cNvSpPr txBox="1"/>
          <p:nvPr/>
        </p:nvSpPr>
        <p:spPr>
          <a:xfrm>
            <a:off x="559398" y="1140311"/>
            <a:ext cx="10811435" cy="3797193"/>
          </a:xfrm>
          <a:prstGeom prst="rect">
            <a:avLst/>
          </a:prstGeom>
          <a:noFill/>
        </p:spPr>
        <p:txBody>
          <a:bodyPr wrap="square" rtlCol="0">
            <a:spAutoFit/>
          </a:bodyPr>
          <a:lstStyle/>
          <a:p>
            <a:pPr>
              <a:lnSpc>
                <a:spcPct val="150000"/>
              </a:lnSpc>
            </a:pPr>
            <a:r>
              <a:rPr kumimoji="1" lang="en-US" altLang="zh-CN" dirty="0">
                <a:latin typeface="Palatino" pitchFamily="2" charset="0"/>
                <a:ea typeface="Palatino" pitchFamily="2" charset="0"/>
              </a:rPr>
              <a:t>Topic choosing: All Members;</a:t>
            </a:r>
          </a:p>
          <a:p>
            <a:pPr>
              <a:lnSpc>
                <a:spcPct val="150000"/>
              </a:lnSpc>
            </a:pPr>
            <a:r>
              <a:rPr kumimoji="1" lang="en-US" altLang="zh-CN" dirty="0">
                <a:latin typeface="Palatino" pitchFamily="2" charset="0"/>
                <a:ea typeface="Palatino" pitchFamily="2" charset="0"/>
              </a:rPr>
              <a:t>Data Scraping: </a:t>
            </a:r>
            <a:r>
              <a:rPr kumimoji="1" lang="en-US" altLang="zh-CN" dirty="0" err="1">
                <a:latin typeface="Palatino" pitchFamily="2" charset="0"/>
                <a:ea typeface="Palatino" pitchFamily="2" charset="0"/>
              </a:rPr>
              <a:t>XinweiZENG</a:t>
            </a:r>
            <a:r>
              <a:rPr kumimoji="1" lang="en-US" altLang="zh-CN" dirty="0">
                <a:latin typeface="Palatino" pitchFamily="2" charset="0"/>
                <a:ea typeface="Palatino" pitchFamily="2" charset="0"/>
              </a:rPr>
              <a:t>;</a:t>
            </a:r>
          </a:p>
          <a:p>
            <a:pPr>
              <a:lnSpc>
                <a:spcPct val="150000"/>
              </a:lnSpc>
            </a:pPr>
            <a:r>
              <a:rPr kumimoji="1" lang="en-US" altLang="zh-CN" dirty="0">
                <a:latin typeface="Palatino" pitchFamily="2" charset="0"/>
                <a:ea typeface="Palatino" pitchFamily="2" charset="0"/>
              </a:rPr>
              <a:t>Data Processing: </a:t>
            </a:r>
            <a:r>
              <a:rPr kumimoji="1" lang="en-US" altLang="zh-CN" dirty="0" err="1">
                <a:latin typeface="Palatino" pitchFamily="2" charset="0"/>
                <a:ea typeface="Palatino" pitchFamily="2" charset="0"/>
              </a:rPr>
              <a:t>XinweiZENG</a:t>
            </a:r>
            <a:r>
              <a:rPr kumimoji="1" lang="en-US" altLang="zh-CN" dirty="0">
                <a:latin typeface="Palatino" pitchFamily="2" charset="0"/>
                <a:ea typeface="Palatino" pitchFamily="2" charset="0"/>
              </a:rPr>
              <a:t>, </a:t>
            </a:r>
            <a:r>
              <a:rPr kumimoji="1" lang="en-US" altLang="zh-CN" dirty="0" err="1">
                <a:latin typeface="Palatino" pitchFamily="2" charset="0"/>
                <a:ea typeface="Palatino" pitchFamily="2" charset="0"/>
              </a:rPr>
              <a:t>AiwenLI</a:t>
            </a:r>
            <a:r>
              <a:rPr kumimoji="1" lang="en-US" altLang="zh-CN" dirty="0">
                <a:latin typeface="Palatino" pitchFamily="2" charset="0"/>
                <a:ea typeface="Palatino" pitchFamily="2" charset="0"/>
              </a:rPr>
              <a:t>;</a:t>
            </a:r>
          </a:p>
          <a:p>
            <a:pPr>
              <a:lnSpc>
                <a:spcPct val="150000"/>
              </a:lnSpc>
            </a:pPr>
            <a:r>
              <a:rPr kumimoji="1" lang="en-US" altLang="zh-CN" dirty="0">
                <a:latin typeface="Palatino" pitchFamily="2" charset="0"/>
                <a:ea typeface="Palatino" pitchFamily="2" charset="0"/>
              </a:rPr>
              <a:t>Model Construction: </a:t>
            </a:r>
            <a:r>
              <a:rPr kumimoji="1" lang="en-US" altLang="zh-CN" dirty="0" err="1">
                <a:latin typeface="Palatino" pitchFamily="2" charset="0"/>
                <a:ea typeface="Palatino" pitchFamily="2" charset="0"/>
              </a:rPr>
              <a:t>AiwenLI</a:t>
            </a:r>
            <a:r>
              <a:rPr kumimoji="1" lang="en-US" altLang="zh-CN" dirty="0">
                <a:latin typeface="Palatino" pitchFamily="2" charset="0"/>
                <a:ea typeface="Palatino" pitchFamily="2" charset="0"/>
              </a:rPr>
              <a:t>;</a:t>
            </a:r>
          </a:p>
          <a:p>
            <a:pPr>
              <a:lnSpc>
                <a:spcPct val="150000"/>
              </a:lnSpc>
            </a:pPr>
            <a:r>
              <a:rPr kumimoji="1" lang="en-US" altLang="zh-CN" dirty="0">
                <a:latin typeface="Palatino" pitchFamily="2" charset="0"/>
                <a:ea typeface="Palatino" pitchFamily="2" charset="0"/>
              </a:rPr>
              <a:t>Data Analysis: </a:t>
            </a:r>
            <a:r>
              <a:rPr kumimoji="1" lang="en-US" altLang="zh-CN" dirty="0" err="1">
                <a:latin typeface="Palatino" pitchFamily="2" charset="0"/>
                <a:ea typeface="Palatino" pitchFamily="2" charset="0"/>
              </a:rPr>
              <a:t>AiwenLI</a:t>
            </a:r>
            <a:r>
              <a:rPr kumimoji="1" lang="en-US" altLang="zh-CN" dirty="0">
                <a:latin typeface="Palatino" pitchFamily="2" charset="0"/>
                <a:ea typeface="Palatino" pitchFamily="2" charset="0"/>
              </a:rPr>
              <a:t>, </a:t>
            </a:r>
            <a:r>
              <a:rPr kumimoji="1" lang="en-US" altLang="zh-CN" dirty="0" err="1">
                <a:latin typeface="Palatino" pitchFamily="2" charset="0"/>
                <a:ea typeface="Palatino" pitchFamily="2" charset="0"/>
              </a:rPr>
              <a:t>XinweiZENG</a:t>
            </a:r>
            <a:r>
              <a:rPr kumimoji="1" lang="en-US" altLang="zh-CN" dirty="0">
                <a:latin typeface="Palatino" pitchFamily="2" charset="0"/>
                <a:ea typeface="Palatino" pitchFamily="2" charset="0"/>
              </a:rPr>
              <a:t>;</a:t>
            </a:r>
          </a:p>
          <a:p>
            <a:pPr>
              <a:lnSpc>
                <a:spcPct val="150000"/>
              </a:lnSpc>
            </a:pPr>
            <a:r>
              <a:rPr kumimoji="1" lang="en-US" altLang="zh-CN" dirty="0">
                <a:latin typeface="Palatino" pitchFamily="2" charset="0"/>
                <a:ea typeface="Palatino" pitchFamily="2" charset="0"/>
              </a:rPr>
              <a:t>Data Visualization: </a:t>
            </a:r>
            <a:r>
              <a:rPr kumimoji="1" lang="en-US" altLang="zh-CN" dirty="0" err="1">
                <a:latin typeface="Palatino" pitchFamily="2" charset="0"/>
                <a:ea typeface="Palatino" pitchFamily="2" charset="0"/>
              </a:rPr>
              <a:t>AiwenLI</a:t>
            </a:r>
            <a:r>
              <a:rPr kumimoji="1" lang="zh-CN" altLang="en-US" dirty="0">
                <a:latin typeface="Palatino" pitchFamily="2" charset="0"/>
                <a:ea typeface="Palatino" pitchFamily="2" charset="0"/>
              </a:rPr>
              <a:t>；</a:t>
            </a:r>
            <a:endParaRPr kumimoji="1" lang="en-US" altLang="zh-CN" dirty="0">
              <a:latin typeface="Palatino" pitchFamily="2" charset="0"/>
              <a:ea typeface="Palatino" pitchFamily="2" charset="0"/>
            </a:endParaRPr>
          </a:p>
          <a:p>
            <a:pPr>
              <a:lnSpc>
                <a:spcPct val="150000"/>
              </a:lnSpc>
            </a:pPr>
            <a:r>
              <a:rPr kumimoji="1" lang="en-US" altLang="zh-CN" dirty="0">
                <a:latin typeface="Palatino" pitchFamily="2" charset="0"/>
                <a:ea typeface="Palatino" pitchFamily="2" charset="0"/>
              </a:rPr>
              <a:t>Readme File Making: </a:t>
            </a:r>
            <a:r>
              <a:rPr kumimoji="1" lang="en-US" altLang="zh-CN" dirty="0" err="1">
                <a:latin typeface="Palatino" pitchFamily="2" charset="0"/>
                <a:ea typeface="Palatino" pitchFamily="2" charset="0"/>
              </a:rPr>
              <a:t>ZiyiCAI</a:t>
            </a:r>
            <a:r>
              <a:rPr kumimoji="1" lang="en-US" altLang="zh-CN" dirty="0">
                <a:latin typeface="Palatino" pitchFamily="2" charset="0"/>
                <a:ea typeface="Palatino" pitchFamily="2" charset="0"/>
              </a:rPr>
              <a:t>;</a:t>
            </a:r>
          </a:p>
          <a:p>
            <a:pPr>
              <a:lnSpc>
                <a:spcPct val="150000"/>
              </a:lnSpc>
            </a:pPr>
            <a:r>
              <a:rPr kumimoji="1" lang="en-US" altLang="zh-CN" dirty="0">
                <a:latin typeface="Palatino" pitchFamily="2" charset="0"/>
                <a:ea typeface="Palatino" pitchFamily="2" charset="0"/>
              </a:rPr>
              <a:t>PPT Making: </a:t>
            </a:r>
            <a:r>
              <a:rPr kumimoji="1" lang="en-US" altLang="zh-CN" dirty="0" err="1">
                <a:latin typeface="Palatino" pitchFamily="2" charset="0"/>
                <a:ea typeface="Palatino" pitchFamily="2" charset="0"/>
              </a:rPr>
              <a:t>RuqianZHANG</a:t>
            </a:r>
            <a:r>
              <a:rPr kumimoji="1" lang="en-US" altLang="zh-CN" dirty="0">
                <a:latin typeface="Palatino" pitchFamily="2" charset="0"/>
                <a:ea typeface="Palatino" pitchFamily="2" charset="0"/>
              </a:rPr>
              <a:t>, </a:t>
            </a:r>
            <a:r>
              <a:rPr kumimoji="1" lang="en-US" altLang="zh-CN" dirty="0" err="1">
                <a:latin typeface="Palatino" pitchFamily="2" charset="0"/>
                <a:ea typeface="Palatino" pitchFamily="2" charset="0"/>
              </a:rPr>
              <a:t>ZiyiCAI</a:t>
            </a:r>
            <a:r>
              <a:rPr kumimoji="1" lang="en-US" altLang="zh-CN" dirty="0">
                <a:latin typeface="Palatino" pitchFamily="2" charset="0"/>
                <a:ea typeface="Palatino" pitchFamily="2" charset="0"/>
              </a:rPr>
              <a:t>;</a:t>
            </a:r>
          </a:p>
          <a:p>
            <a:pPr>
              <a:lnSpc>
                <a:spcPct val="150000"/>
              </a:lnSpc>
            </a:pPr>
            <a:r>
              <a:rPr kumimoji="1" lang="en-US" altLang="zh-CN" dirty="0">
                <a:latin typeface="Palatino" pitchFamily="2" charset="0"/>
                <a:ea typeface="Palatino" pitchFamily="2" charset="0"/>
              </a:rPr>
              <a:t>Presentation Making: </a:t>
            </a:r>
            <a:r>
              <a:rPr kumimoji="1" lang="en-US" altLang="zh-CN" dirty="0" err="1">
                <a:latin typeface="Palatino" pitchFamily="2" charset="0"/>
                <a:ea typeface="Palatino" pitchFamily="2" charset="0"/>
              </a:rPr>
              <a:t>RuqianZHANG</a:t>
            </a:r>
            <a:endParaRPr kumimoji="1" lang="zh-CN" altLang="en-US" dirty="0">
              <a:latin typeface="Palatino" pitchFamily="2" charset="0"/>
              <a:ea typeface="Palatino" pitchFamily="2" charset="0"/>
            </a:endParaRPr>
          </a:p>
        </p:txBody>
      </p:sp>
    </p:spTree>
    <p:extLst>
      <p:ext uri="{BB962C8B-B14F-4D97-AF65-F5344CB8AC3E}">
        <p14:creationId xmlns:p14="http://schemas.microsoft.com/office/powerpoint/2010/main" val="1701043229"/>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63E51-675D-55C3-4925-318E288D2DAD}"/>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8C0F5177-AD2E-E178-E205-1D9668EEBDEF}"/>
              </a:ext>
            </a:extLst>
          </p:cNvPr>
          <p:cNvSpPr txBox="1"/>
          <p:nvPr/>
        </p:nvSpPr>
        <p:spPr>
          <a:xfrm>
            <a:off x="127818" y="127819"/>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7C0A081F-8ADA-FF0B-900A-1C1403888224}"/>
              </a:ext>
            </a:extLst>
          </p:cNvPr>
          <p:cNvSpPr txBox="1"/>
          <p:nvPr/>
        </p:nvSpPr>
        <p:spPr>
          <a:xfrm>
            <a:off x="434873" y="-20568"/>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What have we done?</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26CBBF7C-24EE-D2F6-7C21-81E13FEBAD7D}"/>
              </a:ext>
            </a:extLst>
          </p:cNvPr>
          <p:cNvSpPr>
            <a:spLocks noGrp="1"/>
          </p:cNvSpPr>
          <p:nvPr>
            <p:ph type="sldNum" sz="quarter" idx="11"/>
          </p:nvPr>
        </p:nvSpPr>
        <p:spPr>
          <a:xfrm>
            <a:off x="9013723" y="6356350"/>
            <a:ext cx="2743200" cy="365125"/>
          </a:xfr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50CF25-F9B6-EA4B-991F-E50888CA6F87}" type="slidenum">
              <a:rPr kumimoji="0" lang="en-US" sz="1800" b="1" i="0" u="none" strike="noStrike" kern="1200" cap="none" spc="0" normalizeH="0" baseline="0" noProof="0" smtClean="0">
                <a:ln>
                  <a:noFill/>
                </a:ln>
                <a:solidFill>
                  <a:prstClr val="white"/>
                </a:solidFill>
                <a:effectLst/>
                <a:uLnTx/>
                <a:uFillTx/>
                <a:latin typeface="Times New Roman" panose="02020603050405020304" pitchFamily="18" charset="0"/>
                <a:ea typeface="+mn-ea"/>
                <a:cs typeface="Times New Roman" panose="02020603050405020304" pitchFamily="18" charset="0"/>
              </a:rPr>
              <a:t>5</a:t>
            </a:fld>
            <a:endPar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8" name="Rectangle 3">
            <a:extLst>
              <a:ext uri="{FF2B5EF4-FFF2-40B4-BE49-F238E27FC236}">
                <a16:creationId xmlns:a16="http://schemas.microsoft.com/office/drawing/2014/main" id="{CC8F234D-926E-5C17-C17E-07D1996C75E8}"/>
              </a:ext>
            </a:extLst>
          </p:cNvPr>
          <p:cNvSpPr>
            <a:spLocks noChangeArrowheads="1"/>
          </p:cNvSpPr>
          <p:nvPr/>
        </p:nvSpPr>
        <p:spPr bwMode="auto">
          <a:xfrm>
            <a:off x="434873" y="1302506"/>
            <a:ext cx="11757127" cy="2262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Palatino" pitchFamily="2" charset="0"/>
                <a:ea typeface="Palatino" pitchFamily="2" charset="0"/>
              </a:rPr>
              <a:t>Train multiple </a:t>
            </a:r>
            <a:r>
              <a:rPr kumimoji="0" lang="zh-CN" altLang="zh-CN" sz="2400" b="1" i="0" u="none" strike="noStrike" cap="none" normalizeH="0" baseline="0" dirty="0">
                <a:ln>
                  <a:noFill/>
                </a:ln>
                <a:solidFill>
                  <a:schemeClr val="tx1"/>
                </a:solidFill>
                <a:effectLst/>
                <a:latin typeface="Palatino" pitchFamily="2" charset="0"/>
                <a:ea typeface="Palatino" pitchFamily="2" charset="0"/>
              </a:rPr>
              <a:t>machine learning models</a:t>
            </a:r>
            <a:endParaRPr kumimoji="0" lang="en-US" altLang="zh-CN" sz="2400" b="1" i="0" u="none" strike="noStrike" cap="none" normalizeH="0" baseline="0" dirty="0">
              <a:ln>
                <a:noFill/>
              </a:ln>
              <a:solidFill>
                <a:schemeClr val="tx1"/>
              </a:solidFill>
              <a:effectLst/>
              <a:latin typeface="Palatino" pitchFamily="2" charset="0"/>
              <a:ea typeface="Palatino" pitchFamily="2"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Palatino" pitchFamily="2" charset="0"/>
                <a:ea typeface="Palatino" pitchFamily="2" charset="0"/>
              </a:rPr>
              <a:t>using historical </a:t>
            </a:r>
            <a:r>
              <a:rPr kumimoji="0" lang="zh-CN" altLang="zh-CN" sz="2400" b="1" i="0" u="none" strike="noStrike" cap="none" normalizeH="0" baseline="0" dirty="0">
                <a:ln>
                  <a:noFill/>
                </a:ln>
                <a:solidFill>
                  <a:schemeClr val="tx1"/>
                </a:solidFill>
                <a:effectLst/>
                <a:latin typeface="Palatino" pitchFamily="2" charset="0"/>
                <a:ea typeface="Palatino" pitchFamily="2" charset="0"/>
              </a:rPr>
              <a:t>earthquake</a:t>
            </a:r>
            <a:r>
              <a:rPr kumimoji="0" lang="zh-CN" altLang="zh-CN" sz="2400" b="0" i="0" u="none" strike="noStrike" cap="none" normalizeH="0" baseline="0" dirty="0">
                <a:ln>
                  <a:noFill/>
                </a:ln>
                <a:solidFill>
                  <a:schemeClr val="tx1"/>
                </a:solidFill>
                <a:effectLst/>
                <a:latin typeface="Palatino" pitchFamily="2" charset="0"/>
                <a:ea typeface="Palatino" pitchFamily="2" charset="0"/>
              </a:rPr>
              <a:t> data</a:t>
            </a:r>
            <a:endParaRPr kumimoji="0" lang="en-US" altLang="zh-CN" sz="2400" b="0" i="0" u="none" strike="noStrike" cap="none" normalizeH="0" baseline="0" dirty="0">
              <a:ln>
                <a:noFill/>
              </a:ln>
              <a:solidFill>
                <a:schemeClr val="tx1"/>
              </a:solidFill>
              <a:effectLst/>
              <a:latin typeface="Palatino" pitchFamily="2" charset="0"/>
              <a:ea typeface="Palatino" pitchFamily="2"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Palatino" pitchFamily="2" charset="0"/>
                <a:ea typeface="Palatino" pitchFamily="2" charset="0"/>
              </a:rPr>
              <a:t>to predict whether a </a:t>
            </a:r>
            <a:r>
              <a:rPr kumimoji="0" lang="zh-CN" altLang="zh-CN" sz="2400" b="1" i="0" u="none" strike="noStrike" cap="none" normalizeH="0" baseline="0" dirty="0">
                <a:ln>
                  <a:noFill/>
                </a:ln>
                <a:solidFill>
                  <a:schemeClr val="tx1"/>
                </a:solidFill>
                <a:effectLst/>
                <a:latin typeface="Palatino" pitchFamily="2" charset="0"/>
                <a:ea typeface="Palatino" pitchFamily="2" charset="0"/>
              </a:rPr>
              <a:t>strong earthquake </a:t>
            </a:r>
            <a:r>
              <a:rPr kumimoji="0" lang="zh-CN" altLang="zh-CN" sz="2400" b="0" i="0" u="none" strike="noStrike" cap="none" normalizeH="0" baseline="0" dirty="0">
                <a:ln>
                  <a:noFill/>
                </a:ln>
                <a:solidFill>
                  <a:schemeClr val="tx1"/>
                </a:solidFill>
                <a:effectLst/>
                <a:latin typeface="Palatino" pitchFamily="2" charset="0"/>
                <a:ea typeface="Palatino" pitchFamily="2" charset="0"/>
              </a:rPr>
              <a:t>will occur in the future</a:t>
            </a:r>
            <a:r>
              <a:rPr lang="en-US" altLang="zh-CN" sz="2400" dirty="0">
                <a:latin typeface="Palatino" pitchFamily="2" charset="0"/>
                <a:ea typeface="Palatino" pitchFamily="2" charset="0"/>
              </a:rPr>
              <a:t> </a:t>
            </a:r>
            <a:r>
              <a:rPr kumimoji="0" lang="zh-CN" altLang="zh-CN" sz="2400" b="0" i="0" u="none" strike="noStrike" cap="none" normalizeH="0" baseline="0" dirty="0">
                <a:ln>
                  <a:noFill/>
                </a:ln>
                <a:solidFill>
                  <a:schemeClr val="tx1"/>
                </a:solidFill>
                <a:effectLst/>
                <a:latin typeface="Palatino" pitchFamily="2" charset="0"/>
                <a:ea typeface="Palatino" pitchFamily="2" charset="0"/>
              </a:rPr>
              <a:t>and its </a:t>
            </a:r>
            <a:r>
              <a:rPr kumimoji="0" lang="zh-CN" altLang="zh-CN" sz="2400" b="1" i="0" u="none" strike="noStrike" cap="none" normalizeH="0" baseline="0" dirty="0">
                <a:ln>
                  <a:noFill/>
                </a:ln>
                <a:solidFill>
                  <a:schemeClr val="tx1"/>
                </a:solidFill>
                <a:effectLst/>
                <a:latin typeface="Palatino" pitchFamily="2" charset="0"/>
                <a:ea typeface="Palatino" pitchFamily="2" charset="0"/>
              </a:rPr>
              <a:t>magnitude</a:t>
            </a:r>
            <a:r>
              <a:rPr kumimoji="0" lang="zh-CN" altLang="zh-CN" sz="2400" b="0" i="0" u="none" strike="noStrike" cap="none" normalizeH="0" baseline="0" dirty="0">
                <a:ln>
                  <a:noFill/>
                </a:ln>
                <a:solidFill>
                  <a:schemeClr val="tx1"/>
                </a:solidFill>
                <a:effectLst/>
                <a:latin typeface="Palatino" pitchFamily="2" charset="0"/>
                <a:ea typeface="Palatino" pitchFamily="2" charset="0"/>
              </a:rPr>
              <a:t>, and </a:t>
            </a:r>
            <a:r>
              <a:rPr kumimoji="0" lang="zh-CN" altLang="zh-CN" sz="2400" b="1" i="0" u="none" strike="noStrike" cap="none" normalizeH="0" baseline="0" dirty="0">
                <a:ln>
                  <a:noFill/>
                </a:ln>
                <a:solidFill>
                  <a:schemeClr val="tx1"/>
                </a:solidFill>
                <a:effectLst/>
                <a:latin typeface="Palatino" pitchFamily="2" charset="0"/>
                <a:ea typeface="Palatino" pitchFamily="2" charset="0"/>
              </a:rPr>
              <a:t>compare</a:t>
            </a:r>
            <a:r>
              <a:rPr kumimoji="0" lang="zh-CN" altLang="zh-CN" sz="2400" b="0" i="0" u="none" strike="noStrike" cap="none" normalizeH="0" baseline="0" dirty="0">
                <a:ln>
                  <a:noFill/>
                </a:ln>
                <a:solidFill>
                  <a:schemeClr val="tx1"/>
                </a:solidFill>
                <a:effectLst/>
                <a:latin typeface="Palatino" pitchFamily="2" charset="0"/>
                <a:ea typeface="Palatino" pitchFamily="2" charset="0"/>
              </a:rPr>
              <a:t> the model performance.</a:t>
            </a:r>
            <a:endParaRPr kumimoji="0" lang="zh-CN" altLang="zh-CN" sz="1600" b="0" i="0" u="none" strike="noStrike" cap="none" normalizeH="0" baseline="0" dirty="0">
              <a:ln>
                <a:noFill/>
              </a:ln>
              <a:solidFill>
                <a:schemeClr val="tx1"/>
              </a:solidFill>
              <a:effectLst/>
              <a:latin typeface="Palatino" pitchFamily="2" charset="0"/>
              <a:ea typeface="Palatino" pitchFamily="2" charset="0"/>
            </a:endParaRPr>
          </a:p>
        </p:txBody>
      </p:sp>
    </p:spTree>
    <p:extLst>
      <p:ext uri="{BB962C8B-B14F-4D97-AF65-F5344CB8AC3E}">
        <p14:creationId xmlns:p14="http://schemas.microsoft.com/office/powerpoint/2010/main" val="366280793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06308-0BAA-4AED-5AC5-E95868C2B8B4}"/>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DCEA2795-62C2-425E-A452-995E3DB0E5F7}"/>
              </a:ext>
            </a:extLst>
          </p:cNvPr>
          <p:cNvSpPr txBox="1"/>
          <p:nvPr/>
        </p:nvSpPr>
        <p:spPr>
          <a:xfrm>
            <a:off x="127818" y="127819"/>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BEA8CBE0-179B-EE74-8C8E-C798EE8FBBA8}"/>
              </a:ext>
            </a:extLst>
          </p:cNvPr>
          <p:cNvSpPr txBox="1"/>
          <p:nvPr/>
        </p:nvSpPr>
        <p:spPr>
          <a:xfrm>
            <a:off x="434873" y="-20568"/>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About the dataset</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CB1B7ED2-D885-67CE-64C1-A826B4BF4176}"/>
              </a:ext>
            </a:extLst>
          </p:cNvPr>
          <p:cNvSpPr>
            <a:spLocks noGrp="1"/>
          </p:cNvSpPr>
          <p:nvPr>
            <p:ph type="sldNum" sz="quarter" idx="11"/>
          </p:nvPr>
        </p:nvSpPr>
        <p:spPr>
          <a:xfrm>
            <a:off x="9013723" y="6356350"/>
            <a:ext cx="2743200" cy="365125"/>
          </a:xfr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50CF25-F9B6-EA4B-991F-E50888CA6F87}" type="slidenum">
              <a:rPr kumimoji="0" lang="en-US" sz="1800" b="1" i="0" u="none" strike="noStrike" kern="1200" cap="none" spc="0" normalizeH="0" baseline="0" noProof="0" smtClean="0">
                <a:ln>
                  <a:noFill/>
                </a:ln>
                <a:solidFill>
                  <a:prstClr val="white"/>
                </a:solidFill>
                <a:effectLst/>
                <a:uLnTx/>
                <a:uFillTx/>
                <a:latin typeface="Times New Roman" panose="02020603050405020304" pitchFamily="18" charset="0"/>
                <a:ea typeface="+mn-ea"/>
                <a:cs typeface="Times New Roman" panose="02020603050405020304" pitchFamily="18" charset="0"/>
              </a:rPr>
              <a:t>6</a:t>
            </a:fld>
            <a:endPar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8" name="Rectangle 3">
            <a:extLst>
              <a:ext uri="{FF2B5EF4-FFF2-40B4-BE49-F238E27FC236}">
                <a16:creationId xmlns:a16="http://schemas.microsoft.com/office/drawing/2014/main" id="{75A6838E-DBB3-4D2D-DB0D-0FAC5D6BED83}"/>
              </a:ext>
            </a:extLst>
          </p:cNvPr>
          <p:cNvSpPr>
            <a:spLocks noChangeArrowheads="1"/>
          </p:cNvSpPr>
          <p:nvPr/>
        </p:nvSpPr>
        <p:spPr bwMode="auto">
          <a:xfrm>
            <a:off x="434874" y="1781484"/>
            <a:ext cx="8578849" cy="1304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 altLang="zh-CN" dirty="0">
                <a:latin typeface="Palatino" pitchFamily="2" charset="0"/>
                <a:ea typeface="Palatino" pitchFamily="2" charset="0"/>
              </a:rPr>
              <a:t>We personally crawled the </a:t>
            </a:r>
            <a:r>
              <a:rPr lang="en" altLang="zh-CN" b="1" dirty="0">
                <a:latin typeface="Palatino" pitchFamily="2" charset="0"/>
                <a:ea typeface="Palatino" pitchFamily="2" charset="0"/>
              </a:rPr>
              <a:t>raw</a:t>
            </a:r>
            <a:r>
              <a:rPr lang="en" altLang="zh-CN" dirty="0">
                <a:latin typeface="Palatino" pitchFamily="2" charset="0"/>
                <a:ea typeface="Palatino" pitchFamily="2" charset="0"/>
              </a:rPr>
              <a:t>,</a:t>
            </a:r>
            <a:r>
              <a:rPr lang="en" altLang="zh-CN" b="1" dirty="0">
                <a:latin typeface="Palatino" pitchFamily="2" charset="0"/>
                <a:ea typeface="Palatino" pitchFamily="2" charset="0"/>
              </a:rPr>
              <a:t> unprocessed </a:t>
            </a:r>
            <a:r>
              <a:rPr lang="en" altLang="zh-CN" dirty="0">
                <a:latin typeface="Palatino" pitchFamily="2" charset="0"/>
                <a:ea typeface="Palatino" pitchFamily="2" charset="0"/>
              </a:rPr>
              <a:t>earthquake details </a:t>
            </a:r>
            <a:r>
              <a:rPr lang="en" altLang="zh-CN" b="1" dirty="0">
                <a:latin typeface="Palatino" pitchFamily="2" charset="0"/>
                <a:ea typeface="Palatino" pitchFamily="2" charset="0"/>
              </a:rPr>
              <a:t>data</a:t>
            </a:r>
            <a:r>
              <a:rPr lang="en" altLang="zh-CN" dirty="0">
                <a:latin typeface="Palatino" pitchFamily="2" charset="0"/>
                <a:ea typeface="Palatino" pitchFamily="2" charset="0"/>
              </a:rPr>
              <a:t> from the China Earthquake Networks Center.</a:t>
            </a:r>
          </a:p>
          <a:p>
            <a:pPr lvl="0" eaLnBrk="0" fontAlgn="base" hangingPunct="0">
              <a:lnSpc>
                <a:spcPct val="150000"/>
              </a:lnSpc>
              <a:spcBef>
                <a:spcPct val="0"/>
              </a:spcBef>
              <a:spcAft>
                <a:spcPct val="0"/>
              </a:spcAft>
            </a:pPr>
            <a:r>
              <a:rPr lang="en" altLang="zh-CN" dirty="0">
                <a:latin typeface="Palatino" pitchFamily="2" charset="0"/>
                <a:ea typeface="Palatino" pitchFamily="2" charset="0"/>
              </a:rPr>
              <a:t> </a:t>
            </a:r>
            <a:r>
              <a:rPr lang="en" altLang="zh-CN" u="sng" dirty="0">
                <a:latin typeface="Palatino" pitchFamily="2" charset="0"/>
                <a:ea typeface="Palatino" pitchFamily="2" charset="0"/>
                <a:hlinkClick r:id="rId2"/>
              </a:rPr>
              <a:t>https://www.cenc.ac.cn/earthquake-manage-publish-web/designated-catalogue</a:t>
            </a:r>
            <a:endParaRPr kumimoji="0" lang="zh-CN" altLang="zh-CN" sz="1600" b="0" i="0" u="none" strike="noStrike" cap="none" normalizeH="0" baseline="0" dirty="0">
              <a:ln>
                <a:noFill/>
              </a:ln>
              <a:solidFill>
                <a:schemeClr val="tx1"/>
              </a:solidFill>
              <a:effectLst/>
              <a:latin typeface="Palatino" pitchFamily="2" charset="0"/>
              <a:ea typeface="Palatino" pitchFamily="2" charset="0"/>
            </a:endParaRPr>
          </a:p>
        </p:txBody>
      </p:sp>
    </p:spTree>
    <p:extLst>
      <p:ext uri="{BB962C8B-B14F-4D97-AF65-F5344CB8AC3E}">
        <p14:creationId xmlns:p14="http://schemas.microsoft.com/office/powerpoint/2010/main" val="179952311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A29F-314C-CD3E-E932-22E2F97E9635}"/>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B54F85AF-FAD1-060A-1B74-A220A97F45A2}"/>
              </a:ext>
            </a:extLst>
          </p:cNvPr>
          <p:cNvSpPr txBox="1"/>
          <p:nvPr/>
        </p:nvSpPr>
        <p:spPr>
          <a:xfrm>
            <a:off x="127818" y="127819"/>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3D786B1A-1704-AB26-1CEF-2886D0DC9AA2}"/>
              </a:ext>
            </a:extLst>
          </p:cNvPr>
          <p:cNvSpPr txBox="1"/>
          <p:nvPr/>
        </p:nvSpPr>
        <p:spPr>
          <a:xfrm>
            <a:off x="434873" y="-20568"/>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Details: Feature Extraction</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BE1776B3-E306-552B-B1E4-155A47B771F1}"/>
              </a:ext>
            </a:extLst>
          </p:cNvPr>
          <p:cNvSpPr>
            <a:spLocks noGrp="1"/>
          </p:cNvSpPr>
          <p:nvPr>
            <p:ph type="sldNum" sz="quarter" idx="11"/>
          </p:nvPr>
        </p:nvSpPr>
        <p:spPr>
          <a:xfrm>
            <a:off x="9013723" y="6356350"/>
            <a:ext cx="2743200" cy="365125"/>
          </a:xfr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50CF25-F9B6-EA4B-991F-E50888CA6F87}" type="slidenum">
              <a:rPr kumimoji="0" lang="en-US" sz="1800" b="1" i="0" u="none" strike="noStrike" kern="1200" cap="none" spc="0" normalizeH="0" baseline="0" noProof="0" smtClean="0">
                <a:ln>
                  <a:noFill/>
                </a:ln>
                <a:solidFill>
                  <a:prstClr val="white"/>
                </a:solidFill>
                <a:effectLst/>
                <a:uLnTx/>
                <a:uFillTx/>
                <a:latin typeface="Times New Roman" panose="02020603050405020304" pitchFamily="18" charset="0"/>
                <a:ea typeface="+mn-ea"/>
                <a:cs typeface="Times New Roman" panose="02020603050405020304" pitchFamily="18" charset="0"/>
              </a:rPr>
              <a:t>7</a:t>
            </a:fld>
            <a:endPar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3" name="文本框 2">
            <a:extLst>
              <a:ext uri="{FF2B5EF4-FFF2-40B4-BE49-F238E27FC236}">
                <a16:creationId xmlns:a16="http://schemas.microsoft.com/office/drawing/2014/main" id="{F98536DB-5BC0-3F92-8D9A-F3ABABDF338B}"/>
              </a:ext>
            </a:extLst>
          </p:cNvPr>
          <p:cNvSpPr txBox="1"/>
          <p:nvPr/>
        </p:nvSpPr>
        <p:spPr>
          <a:xfrm>
            <a:off x="1023452" y="1810166"/>
            <a:ext cx="4431417" cy="3046988"/>
          </a:xfrm>
          <a:prstGeom prst="rect">
            <a:avLst/>
          </a:prstGeom>
          <a:noFill/>
        </p:spPr>
        <p:txBody>
          <a:bodyPr wrap="square" rtlCol="0">
            <a:spAutoFit/>
          </a:bodyPr>
          <a:lstStyle/>
          <a:p>
            <a:r>
              <a:rPr kumimoji="1" lang="en-US" altLang="zh-CN" sz="2400" dirty="0">
                <a:latin typeface="Palatino" pitchFamily="2" charset="0"/>
                <a:ea typeface="Palatino" pitchFamily="2" charset="0"/>
              </a:rPr>
              <a:t>Explain</a:t>
            </a:r>
            <a:r>
              <a:rPr lang="en-US" altLang="zh-CN" sz="2400" dirty="0">
                <a:latin typeface="Palatino" pitchFamily="2" charset="0"/>
                <a:ea typeface="Palatino" pitchFamily="2" charset="0"/>
              </a:rPr>
              <a:t>: </a:t>
            </a:r>
            <a:r>
              <a:rPr lang="en" altLang="zh-CN" sz="2400" dirty="0">
                <a:latin typeface="Palatino" pitchFamily="2" charset="0"/>
                <a:ea typeface="Palatino" pitchFamily="2" charset="0"/>
              </a:rPr>
              <a:t>Feature extraction is the process of transforming raw data into a set of measurable characteristics/features that better represent the underlying problem and improve model performance.</a:t>
            </a:r>
            <a:endParaRPr kumimoji="1" lang="zh-CN" altLang="en-US" sz="2400" dirty="0">
              <a:latin typeface="Palatino" pitchFamily="2" charset="0"/>
              <a:ea typeface="Palatino" pitchFamily="2" charset="0"/>
            </a:endParaRPr>
          </a:p>
        </p:txBody>
      </p:sp>
      <p:graphicFrame>
        <p:nvGraphicFramePr>
          <p:cNvPr id="12" name="对象 11">
            <a:extLst>
              <a:ext uri="{FF2B5EF4-FFF2-40B4-BE49-F238E27FC236}">
                <a16:creationId xmlns:a16="http://schemas.microsoft.com/office/drawing/2014/main" id="{9F10903C-F840-F6A7-80F6-851BB0573F76}"/>
              </a:ext>
            </a:extLst>
          </p:cNvPr>
          <p:cNvGraphicFramePr>
            <a:graphicFrameLocks noChangeAspect="1"/>
          </p:cNvGraphicFramePr>
          <p:nvPr>
            <p:extLst>
              <p:ext uri="{D42A27DB-BD31-4B8C-83A1-F6EECF244321}">
                <p14:modId xmlns:p14="http://schemas.microsoft.com/office/powerpoint/2010/main" val="3304086667"/>
              </p:ext>
            </p:extLst>
          </p:nvPr>
        </p:nvGraphicFramePr>
        <p:xfrm>
          <a:off x="7548255" y="624592"/>
          <a:ext cx="3109913" cy="5418137"/>
        </p:xfrm>
        <a:graphic>
          <a:graphicData uri="http://schemas.openxmlformats.org/presentationml/2006/ole">
            <mc:AlternateContent xmlns:mc="http://schemas.openxmlformats.org/markup-compatibility/2006">
              <mc:Choice xmlns:v="urn:schemas-microsoft-com:vml" Requires="v">
                <p:oleObj name="工作表" r:id="rId3" imgW="4089400" imgH="7124700" progId="Excel.Sheet.12">
                  <p:embed/>
                </p:oleObj>
              </mc:Choice>
              <mc:Fallback>
                <p:oleObj name="工作表" r:id="rId3" imgW="4089400" imgH="7124700" progId="Excel.Sheet.12">
                  <p:embed/>
                  <p:pic>
                    <p:nvPicPr>
                      <p:cNvPr id="0" name=""/>
                      <p:cNvPicPr/>
                      <p:nvPr/>
                    </p:nvPicPr>
                    <p:blipFill>
                      <a:blip r:embed="rId4"/>
                      <a:stretch>
                        <a:fillRect/>
                      </a:stretch>
                    </p:blipFill>
                    <p:spPr>
                      <a:xfrm>
                        <a:off x="7548255" y="624592"/>
                        <a:ext cx="3109913" cy="5418137"/>
                      </a:xfrm>
                      <a:prstGeom prst="rect">
                        <a:avLst/>
                      </a:prstGeom>
                    </p:spPr>
                  </p:pic>
                </p:oleObj>
              </mc:Fallback>
            </mc:AlternateContent>
          </a:graphicData>
        </a:graphic>
      </p:graphicFrame>
    </p:spTree>
    <p:extLst>
      <p:ext uri="{BB962C8B-B14F-4D97-AF65-F5344CB8AC3E}">
        <p14:creationId xmlns:p14="http://schemas.microsoft.com/office/powerpoint/2010/main" val="3290759297"/>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2F195-5543-B8E4-D0D3-A03A8192F1C8}"/>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8EE7AE2C-F01C-57E6-5C34-58C21100E99C}"/>
              </a:ext>
            </a:extLst>
          </p:cNvPr>
          <p:cNvSpPr txBox="1"/>
          <p:nvPr/>
        </p:nvSpPr>
        <p:spPr>
          <a:xfrm>
            <a:off x="434873" y="-20568"/>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Details: Models We Have Used</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13A242FB-0F32-8018-CA85-FBC34AF940BF}"/>
              </a:ext>
            </a:extLst>
          </p:cNvPr>
          <p:cNvSpPr>
            <a:spLocks noGrp="1"/>
          </p:cNvSpPr>
          <p:nvPr>
            <p:ph type="sldNum" sz="quarter" idx="11"/>
          </p:nvPr>
        </p:nvSpPr>
        <p:spPr>
          <a:xfrm>
            <a:off x="9013723" y="6356350"/>
            <a:ext cx="2743200" cy="365125"/>
          </a:xfr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50CF25-F9B6-EA4B-991F-E50888CA6F87}" type="slidenum">
              <a:rPr kumimoji="0" lang="en-US" sz="1800" b="1" i="0" u="none" strike="noStrike" kern="1200" cap="none" spc="0" normalizeH="0" baseline="0" noProof="0" smtClean="0">
                <a:ln>
                  <a:noFill/>
                </a:ln>
                <a:solidFill>
                  <a:prstClr val="white"/>
                </a:solidFill>
                <a:effectLst/>
                <a:uLnTx/>
                <a:uFillTx/>
                <a:latin typeface="Times New Roman" panose="02020603050405020304" pitchFamily="18" charset="0"/>
                <a:ea typeface="+mn-ea"/>
                <a:cs typeface="Times New Roman" panose="02020603050405020304" pitchFamily="18" charset="0"/>
              </a:rPr>
              <a:t>8</a:t>
            </a:fld>
            <a:endPar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3" name="文本框 2">
            <a:extLst>
              <a:ext uri="{FF2B5EF4-FFF2-40B4-BE49-F238E27FC236}">
                <a16:creationId xmlns:a16="http://schemas.microsoft.com/office/drawing/2014/main" id="{CF9B45C9-09C5-3CDC-ECFF-78AA81B97A97}"/>
              </a:ext>
            </a:extLst>
          </p:cNvPr>
          <p:cNvSpPr txBox="1"/>
          <p:nvPr/>
        </p:nvSpPr>
        <p:spPr>
          <a:xfrm>
            <a:off x="578070" y="893379"/>
            <a:ext cx="2816772" cy="3693319"/>
          </a:xfrm>
          <a:prstGeom prst="rect">
            <a:avLst/>
          </a:prstGeom>
          <a:noFill/>
        </p:spPr>
        <p:txBody>
          <a:bodyPr wrap="square" rtlCol="0">
            <a:spAutoFit/>
          </a:bodyPr>
          <a:lstStyle/>
          <a:p>
            <a:r>
              <a:rPr kumimoji="1" lang="en-US" altLang="zh-CN" dirty="0"/>
              <a:t>Classification Models:</a:t>
            </a:r>
          </a:p>
          <a:p>
            <a:endParaRPr kumimoji="1" lang="en-US" altLang="zh-CN" dirty="0"/>
          </a:p>
          <a:p>
            <a:r>
              <a:rPr kumimoji="1" lang="en-US" altLang="zh-CN" dirty="0"/>
              <a:t>Logistic Regression</a:t>
            </a:r>
          </a:p>
          <a:p>
            <a:r>
              <a:rPr kumimoji="1" lang="en-US" altLang="zh-CN" dirty="0"/>
              <a:t>Random Forest</a:t>
            </a:r>
          </a:p>
          <a:p>
            <a:r>
              <a:rPr kumimoji="1" lang="en-US" altLang="zh-CN" dirty="0"/>
              <a:t>Decision Tree</a:t>
            </a:r>
          </a:p>
          <a:p>
            <a:r>
              <a:rPr kumimoji="1" lang="en-US" altLang="zh-CN" dirty="0"/>
              <a:t>SVM</a:t>
            </a:r>
          </a:p>
          <a:p>
            <a:r>
              <a:rPr kumimoji="1" lang="en-US" altLang="zh-CN" dirty="0"/>
              <a:t>KNN</a:t>
            </a:r>
          </a:p>
          <a:p>
            <a:r>
              <a:rPr kumimoji="1" lang="en-US" altLang="zh-CN" dirty="0" err="1"/>
              <a:t>XGBoost</a:t>
            </a:r>
            <a:r>
              <a:rPr kumimoji="1" lang="en-US" altLang="zh-CN" dirty="0"/>
              <a:t> Classifier</a:t>
            </a:r>
          </a:p>
          <a:p>
            <a:r>
              <a:rPr kumimoji="1" lang="en-US" altLang="zh-CN" dirty="0" err="1"/>
              <a:t>LightGBM</a:t>
            </a:r>
            <a:r>
              <a:rPr kumimoji="1" lang="en-US" altLang="zh-CN" dirty="0"/>
              <a:t> Classifier</a:t>
            </a:r>
          </a:p>
          <a:p>
            <a:r>
              <a:rPr lang="en" altLang="zh-CN" dirty="0"/>
              <a:t>Gradient Boosting Classifier</a:t>
            </a:r>
          </a:p>
          <a:p>
            <a:r>
              <a:rPr lang="en" altLang="zh-CN" dirty="0"/>
              <a:t>AdaBoost Classifier</a:t>
            </a:r>
          </a:p>
          <a:p>
            <a:r>
              <a:rPr lang="en" altLang="zh-CN" dirty="0"/>
              <a:t>Naive Bayes</a:t>
            </a:r>
          </a:p>
          <a:p>
            <a:r>
              <a:rPr kumimoji="1" lang="en-US" altLang="zh-CN" dirty="0"/>
              <a:t>MLP</a:t>
            </a:r>
            <a:endParaRPr kumimoji="1" lang="zh-CN" altLang="en-US" dirty="0"/>
          </a:p>
        </p:txBody>
      </p:sp>
      <p:sp>
        <p:nvSpPr>
          <p:cNvPr id="7" name="文本框 6">
            <a:extLst>
              <a:ext uri="{FF2B5EF4-FFF2-40B4-BE49-F238E27FC236}">
                <a16:creationId xmlns:a16="http://schemas.microsoft.com/office/drawing/2014/main" id="{27216F8C-2D1A-3744-57F6-0CCA0319BC97}"/>
              </a:ext>
            </a:extLst>
          </p:cNvPr>
          <p:cNvSpPr txBox="1"/>
          <p:nvPr/>
        </p:nvSpPr>
        <p:spPr>
          <a:xfrm>
            <a:off x="4566746" y="893379"/>
            <a:ext cx="2816772" cy="4247317"/>
          </a:xfrm>
          <a:prstGeom prst="rect">
            <a:avLst/>
          </a:prstGeom>
          <a:noFill/>
        </p:spPr>
        <p:txBody>
          <a:bodyPr wrap="square" rtlCol="0">
            <a:spAutoFit/>
          </a:bodyPr>
          <a:lstStyle/>
          <a:p>
            <a:r>
              <a:rPr kumimoji="1" lang="en-US" altLang="zh-CN" dirty="0"/>
              <a:t>Regression Models:</a:t>
            </a:r>
          </a:p>
          <a:p>
            <a:endParaRPr kumimoji="1" lang="en-US" altLang="zh-CN" dirty="0"/>
          </a:p>
          <a:p>
            <a:pPr fontAlgn="base"/>
            <a:r>
              <a:rPr lang="en" altLang="zh-CN" dirty="0"/>
              <a:t>Linear Regression</a:t>
            </a:r>
          </a:p>
          <a:p>
            <a:r>
              <a:rPr lang="en" altLang="zh-CN" dirty="0"/>
              <a:t>Ridge Regression</a:t>
            </a:r>
          </a:p>
          <a:p>
            <a:r>
              <a:rPr lang="en" altLang="zh-CN" dirty="0"/>
              <a:t>Lasso Regression</a:t>
            </a:r>
          </a:p>
          <a:p>
            <a:r>
              <a:rPr lang="en" altLang="zh-CN" dirty="0" err="1"/>
              <a:t>ElasticNet</a:t>
            </a:r>
            <a:endParaRPr lang="en" altLang="zh-CN" dirty="0"/>
          </a:p>
          <a:p>
            <a:r>
              <a:rPr lang="en" altLang="zh-CN" dirty="0"/>
              <a:t>Random Forest Regressor</a:t>
            </a:r>
          </a:p>
          <a:p>
            <a:r>
              <a:rPr lang="en" altLang="zh-CN" dirty="0"/>
              <a:t>Decision Tree Regressor</a:t>
            </a:r>
          </a:p>
          <a:p>
            <a:r>
              <a:rPr lang="en" altLang="zh-CN" dirty="0"/>
              <a:t>SVR</a:t>
            </a:r>
          </a:p>
          <a:p>
            <a:r>
              <a:rPr lang="en" altLang="zh-CN" dirty="0"/>
              <a:t>KNN</a:t>
            </a:r>
          </a:p>
          <a:p>
            <a:r>
              <a:rPr kumimoji="1" lang="en-US" altLang="zh-CN" dirty="0" err="1"/>
              <a:t>XGBoost</a:t>
            </a:r>
            <a:r>
              <a:rPr kumimoji="1" lang="en-US" altLang="zh-CN" dirty="0"/>
              <a:t> Classifier</a:t>
            </a:r>
          </a:p>
          <a:p>
            <a:r>
              <a:rPr kumimoji="1" lang="en-US" altLang="zh-CN" dirty="0" err="1"/>
              <a:t>LightGBM</a:t>
            </a:r>
            <a:r>
              <a:rPr kumimoji="1" lang="en-US" altLang="zh-CN" dirty="0"/>
              <a:t> Classifier</a:t>
            </a:r>
          </a:p>
          <a:p>
            <a:r>
              <a:rPr lang="en" altLang="zh-CN" dirty="0"/>
              <a:t>Gradient Boosting Classifier</a:t>
            </a:r>
          </a:p>
          <a:p>
            <a:r>
              <a:rPr lang="en" altLang="zh-CN" dirty="0"/>
              <a:t>MLP</a:t>
            </a:r>
          </a:p>
          <a:p>
            <a:endParaRPr kumimoji="1" lang="zh-CN" altLang="en-US" dirty="0"/>
          </a:p>
        </p:txBody>
      </p:sp>
      <p:sp>
        <p:nvSpPr>
          <p:cNvPr id="9" name="文本框 8">
            <a:extLst>
              <a:ext uri="{FF2B5EF4-FFF2-40B4-BE49-F238E27FC236}">
                <a16:creationId xmlns:a16="http://schemas.microsoft.com/office/drawing/2014/main" id="{02AE89F8-7EF4-EE7C-523D-978B16C8ECA6}"/>
              </a:ext>
            </a:extLst>
          </p:cNvPr>
          <p:cNvSpPr txBox="1"/>
          <p:nvPr/>
        </p:nvSpPr>
        <p:spPr>
          <a:xfrm>
            <a:off x="8555422" y="893379"/>
            <a:ext cx="2816772" cy="1477328"/>
          </a:xfrm>
          <a:prstGeom prst="rect">
            <a:avLst/>
          </a:prstGeom>
          <a:noFill/>
        </p:spPr>
        <p:txBody>
          <a:bodyPr wrap="square" rtlCol="0">
            <a:spAutoFit/>
          </a:bodyPr>
          <a:lstStyle/>
          <a:p>
            <a:r>
              <a:rPr kumimoji="1" lang="en-US" altLang="zh-CN" dirty="0"/>
              <a:t>Clustering Models:</a:t>
            </a:r>
          </a:p>
          <a:p>
            <a:endParaRPr kumimoji="1" lang="en-US" altLang="zh-CN" dirty="0"/>
          </a:p>
          <a:p>
            <a:pPr fontAlgn="base"/>
            <a:r>
              <a:rPr lang="en-US" altLang="zh-CN" dirty="0"/>
              <a:t>DBSCAN</a:t>
            </a:r>
          </a:p>
          <a:p>
            <a:pPr fontAlgn="base"/>
            <a:r>
              <a:rPr lang="en-US" altLang="zh-CN" dirty="0"/>
              <a:t>K-Means</a:t>
            </a:r>
            <a:endParaRPr lang="en" altLang="zh-CN" dirty="0"/>
          </a:p>
          <a:p>
            <a:endParaRPr kumimoji="1" lang="zh-CN" altLang="en-US" dirty="0"/>
          </a:p>
        </p:txBody>
      </p:sp>
    </p:spTree>
    <p:extLst>
      <p:ext uri="{BB962C8B-B14F-4D97-AF65-F5344CB8AC3E}">
        <p14:creationId xmlns:p14="http://schemas.microsoft.com/office/powerpoint/2010/main" val="2150329031"/>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B1D13-D224-99A8-4F2F-DD037B6B768C}"/>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7A56DDDC-82FD-25F6-83DE-19CBE37BE6EE}"/>
              </a:ext>
            </a:extLst>
          </p:cNvPr>
          <p:cNvSpPr txBox="1"/>
          <p:nvPr/>
        </p:nvSpPr>
        <p:spPr>
          <a:xfrm>
            <a:off x="127818" y="127819"/>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55758CAB-148F-F322-9912-AD06B79CE855}"/>
              </a:ext>
            </a:extLst>
          </p:cNvPr>
          <p:cNvSpPr txBox="1"/>
          <p:nvPr/>
        </p:nvSpPr>
        <p:spPr>
          <a:xfrm>
            <a:off x="434873" y="-20568"/>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Details: An Overall View</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2301D8D2-5C7F-037E-810A-7273555F3E12}"/>
              </a:ext>
            </a:extLst>
          </p:cNvPr>
          <p:cNvSpPr>
            <a:spLocks noGrp="1"/>
          </p:cNvSpPr>
          <p:nvPr>
            <p:ph type="sldNum" sz="quarter" idx="11"/>
          </p:nvPr>
        </p:nvSpPr>
        <p:spPr>
          <a:xfrm>
            <a:off x="9013723" y="6356350"/>
            <a:ext cx="2743200" cy="365125"/>
          </a:xfr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50CF25-F9B6-EA4B-991F-E50888CA6F87}" type="slidenum">
              <a:rPr kumimoji="0" lang="en-US" sz="1800" b="1" i="0" u="none" strike="noStrike" kern="1200" cap="none" spc="0" normalizeH="0" baseline="0" noProof="0" smtClean="0">
                <a:ln>
                  <a:noFill/>
                </a:ln>
                <a:solidFill>
                  <a:prstClr val="white"/>
                </a:solidFill>
                <a:effectLst/>
                <a:uLnTx/>
                <a:uFillTx/>
                <a:latin typeface="Times New Roman" panose="02020603050405020304" pitchFamily="18" charset="0"/>
                <a:ea typeface="+mn-ea"/>
                <a:cs typeface="Times New Roman" panose="02020603050405020304" pitchFamily="18" charset="0"/>
              </a:rPr>
              <a:t>9</a:t>
            </a:fld>
            <a:endPar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pic>
        <p:nvPicPr>
          <p:cNvPr id="6" name="图片 5" descr="图表&#10;&#10;AI 生成的内容可能不正确。">
            <a:extLst>
              <a:ext uri="{FF2B5EF4-FFF2-40B4-BE49-F238E27FC236}">
                <a16:creationId xmlns:a16="http://schemas.microsoft.com/office/drawing/2014/main" id="{9702F3FD-EC4E-7D31-5277-60F95C4B86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600" y="624592"/>
            <a:ext cx="8912540" cy="5290264"/>
          </a:xfrm>
          <a:prstGeom prst="rect">
            <a:avLst/>
          </a:prstGeom>
        </p:spPr>
      </p:pic>
    </p:spTree>
    <p:extLst>
      <p:ext uri="{BB962C8B-B14F-4D97-AF65-F5344CB8AC3E}">
        <p14:creationId xmlns:p14="http://schemas.microsoft.com/office/powerpoint/2010/main" val="85033760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E6B05-D101-9498-D708-F12B22CFB022}"/>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5F4B7209-59C4-8F6B-AE32-CE9BBF3014C7}"/>
              </a:ext>
            </a:extLst>
          </p:cNvPr>
          <p:cNvSpPr txBox="1"/>
          <p:nvPr/>
        </p:nvSpPr>
        <p:spPr>
          <a:xfrm>
            <a:off x="434873" y="-20568"/>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Details: Classification Models</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A3BB60E1-80CE-336E-DEF1-993A633E429A}"/>
              </a:ext>
            </a:extLst>
          </p:cNvPr>
          <p:cNvSpPr>
            <a:spLocks noGrp="1"/>
          </p:cNvSpPr>
          <p:nvPr>
            <p:ph type="sldNum" sz="quarter" idx="11"/>
          </p:nvPr>
        </p:nvSpPr>
        <p:spPr>
          <a:xfrm>
            <a:off x="9013723" y="6356350"/>
            <a:ext cx="2743200" cy="365125"/>
          </a:xfr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50CF25-F9B6-EA4B-991F-E50888CA6F87}" type="slidenum">
              <a:rPr kumimoji="0" lang="en-US" sz="1800" b="1" i="0" u="none" strike="noStrike" kern="1200" cap="none" spc="0" normalizeH="0" baseline="0" noProof="0" smtClean="0">
                <a:ln>
                  <a:noFill/>
                </a:ln>
                <a:solidFill>
                  <a:prstClr val="white"/>
                </a:solidFill>
                <a:effectLst/>
                <a:uLnTx/>
                <a:uFillTx/>
                <a:latin typeface="Times New Roman" panose="02020603050405020304" pitchFamily="18" charset="0"/>
                <a:ea typeface="+mn-ea"/>
                <a:cs typeface="Times New Roman" panose="02020603050405020304" pitchFamily="18" charset="0"/>
              </a:rPr>
              <a:t>10</a:t>
            </a:fld>
            <a:endPar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pic>
        <p:nvPicPr>
          <p:cNvPr id="4" name="图片 3" descr="图表, 条形图&#10;&#10;AI 生成的内容可能不正确。">
            <a:extLst>
              <a:ext uri="{FF2B5EF4-FFF2-40B4-BE49-F238E27FC236}">
                <a16:creationId xmlns:a16="http://schemas.microsoft.com/office/drawing/2014/main" id="{6BB283C2-1D79-D775-6EE5-5809F7E00F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45160"/>
            <a:ext cx="5573498" cy="6212840"/>
          </a:xfrm>
          <a:prstGeom prst="rect">
            <a:avLst/>
          </a:prstGeom>
        </p:spPr>
      </p:pic>
      <p:pic>
        <p:nvPicPr>
          <p:cNvPr id="7" name="图片 6" descr="图表, 雷达图&#10;&#10;AI 生成的内容可能不正确。">
            <a:extLst>
              <a:ext uri="{FF2B5EF4-FFF2-40B4-BE49-F238E27FC236}">
                <a16:creationId xmlns:a16="http://schemas.microsoft.com/office/drawing/2014/main" id="{4420A0CE-A702-CA3D-81FD-AB521A94C1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40527" y="510988"/>
            <a:ext cx="6551473" cy="5836024"/>
          </a:xfrm>
          <a:prstGeom prst="rect">
            <a:avLst/>
          </a:prstGeom>
        </p:spPr>
      </p:pic>
    </p:spTree>
    <p:extLst>
      <p:ext uri="{BB962C8B-B14F-4D97-AF65-F5344CB8AC3E}">
        <p14:creationId xmlns:p14="http://schemas.microsoft.com/office/powerpoint/2010/main" val="266769910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FD8D6-5FB5-348B-7336-CB1CD9AFFC35}"/>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5AE3FCF1-694B-F37F-AD95-A41D7798AC16}"/>
              </a:ext>
            </a:extLst>
          </p:cNvPr>
          <p:cNvSpPr txBox="1"/>
          <p:nvPr/>
        </p:nvSpPr>
        <p:spPr>
          <a:xfrm>
            <a:off x="434873" y="-20568"/>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Details: Regression Models</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7A8D5BB0-E9CA-642B-0B07-A30189E2C043}"/>
              </a:ext>
            </a:extLst>
          </p:cNvPr>
          <p:cNvSpPr>
            <a:spLocks noGrp="1"/>
          </p:cNvSpPr>
          <p:nvPr>
            <p:ph type="sldNum" sz="quarter" idx="11"/>
          </p:nvPr>
        </p:nvSpPr>
        <p:spPr>
          <a:xfrm>
            <a:off x="9013723" y="6356350"/>
            <a:ext cx="2743200" cy="365125"/>
          </a:xfr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50CF25-F9B6-EA4B-991F-E50888CA6F87}" type="slidenum">
              <a:rPr kumimoji="0" lang="en-US" sz="1800" b="1" i="0" u="none" strike="noStrike" kern="1200" cap="none" spc="0" normalizeH="0" baseline="0" noProof="0" smtClean="0">
                <a:ln>
                  <a:noFill/>
                </a:ln>
                <a:solidFill>
                  <a:prstClr val="white"/>
                </a:solidFill>
                <a:effectLst/>
                <a:uLnTx/>
                <a:uFillTx/>
                <a:latin typeface="Times New Roman" panose="02020603050405020304" pitchFamily="18" charset="0"/>
                <a:ea typeface="+mn-ea"/>
                <a:cs typeface="Times New Roman" panose="02020603050405020304" pitchFamily="18" charset="0"/>
              </a:rPr>
              <a:t>11</a:t>
            </a:fld>
            <a:endPar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pic>
        <p:nvPicPr>
          <p:cNvPr id="4" name="图片 3" descr="图表, 条形图&#10;&#10;AI 生成的内容可能不正确。">
            <a:extLst>
              <a:ext uri="{FF2B5EF4-FFF2-40B4-BE49-F238E27FC236}">
                <a16:creationId xmlns:a16="http://schemas.microsoft.com/office/drawing/2014/main" id="{AEE755C8-8056-1B7B-ABE2-EFB33A4D96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3509" y="1047024"/>
            <a:ext cx="8888680" cy="4402804"/>
          </a:xfrm>
          <a:prstGeom prst="rect">
            <a:avLst/>
          </a:prstGeom>
        </p:spPr>
      </p:pic>
    </p:spTree>
    <p:extLst>
      <p:ext uri="{BB962C8B-B14F-4D97-AF65-F5344CB8AC3E}">
        <p14:creationId xmlns:p14="http://schemas.microsoft.com/office/powerpoint/2010/main" val="3401962294"/>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7DFFC-E703-61B2-97C0-9521AD13B0D2}"/>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316548B-D726-3AB4-8FA7-D05642981C63}"/>
              </a:ext>
            </a:extLst>
          </p:cNvPr>
          <p:cNvSpPr txBox="1"/>
          <p:nvPr/>
        </p:nvSpPr>
        <p:spPr>
          <a:xfrm>
            <a:off x="434873" y="-20568"/>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Details: Regression Models</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2B528356-2E34-7C5E-7A49-D24C91EE551A}"/>
              </a:ext>
            </a:extLst>
          </p:cNvPr>
          <p:cNvSpPr>
            <a:spLocks noGrp="1"/>
          </p:cNvSpPr>
          <p:nvPr>
            <p:ph type="sldNum" sz="quarter" idx="11"/>
          </p:nvPr>
        </p:nvSpPr>
        <p:spPr>
          <a:xfrm>
            <a:off x="9013723" y="6356350"/>
            <a:ext cx="2743200" cy="365125"/>
          </a:xfr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50CF25-F9B6-EA4B-991F-E50888CA6F87}" type="slidenum">
              <a:rPr kumimoji="0" lang="en-US" sz="1800" b="1" i="0" u="none" strike="noStrike" kern="1200" cap="none" spc="0" normalizeH="0" baseline="0" noProof="0" smtClean="0">
                <a:ln>
                  <a:noFill/>
                </a:ln>
                <a:solidFill>
                  <a:prstClr val="white"/>
                </a:solidFill>
                <a:effectLst/>
                <a:uLnTx/>
                <a:uFillTx/>
                <a:latin typeface="Times New Roman" panose="02020603050405020304" pitchFamily="18" charset="0"/>
                <a:ea typeface="+mn-ea"/>
                <a:cs typeface="Times New Roman" panose="02020603050405020304" pitchFamily="18" charset="0"/>
              </a:rPr>
              <a:t>12</a:t>
            </a:fld>
            <a:endPar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pic>
        <p:nvPicPr>
          <p:cNvPr id="7" name="图片 6" descr="图表, 条形图&#10;&#10;AI 生成的内容可能不正确。">
            <a:extLst>
              <a:ext uri="{FF2B5EF4-FFF2-40B4-BE49-F238E27FC236}">
                <a16:creationId xmlns:a16="http://schemas.microsoft.com/office/drawing/2014/main" id="{0AF7055F-9708-6FDA-388B-8E64746966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2681" y="843196"/>
            <a:ext cx="7570868" cy="5011900"/>
          </a:xfrm>
          <a:prstGeom prst="rect">
            <a:avLst/>
          </a:prstGeom>
        </p:spPr>
      </p:pic>
    </p:spTree>
    <p:extLst>
      <p:ext uri="{BB962C8B-B14F-4D97-AF65-F5344CB8AC3E}">
        <p14:creationId xmlns:p14="http://schemas.microsoft.com/office/powerpoint/2010/main" val="2417387086"/>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93440-3C5E-8A91-CB09-DBB346142515}"/>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6A01364-C23D-D17F-476C-4414C3D5EEC8}"/>
              </a:ext>
            </a:extLst>
          </p:cNvPr>
          <p:cNvSpPr txBox="1"/>
          <p:nvPr/>
        </p:nvSpPr>
        <p:spPr>
          <a:xfrm>
            <a:off x="434873" y="-20568"/>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Details: Clustering Models</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1802ECBC-64B1-CB4A-9C2B-42D98331B4DA}"/>
              </a:ext>
            </a:extLst>
          </p:cNvPr>
          <p:cNvSpPr>
            <a:spLocks noGrp="1"/>
          </p:cNvSpPr>
          <p:nvPr>
            <p:ph type="sldNum" sz="quarter" idx="11"/>
          </p:nvPr>
        </p:nvSpPr>
        <p:spPr>
          <a:xfrm>
            <a:off x="9013723" y="6356350"/>
            <a:ext cx="2743200" cy="365125"/>
          </a:xfr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50CF25-F9B6-EA4B-991F-E50888CA6F87}" type="slidenum">
              <a:rPr kumimoji="0" lang="en-US" sz="1800" b="1" i="0" u="none" strike="noStrike" kern="1200" cap="none" spc="0" normalizeH="0" baseline="0" noProof="0" smtClean="0">
                <a:ln>
                  <a:noFill/>
                </a:ln>
                <a:solidFill>
                  <a:prstClr val="white"/>
                </a:solidFill>
                <a:effectLst/>
                <a:uLnTx/>
                <a:uFillTx/>
                <a:latin typeface="Times New Roman" panose="02020603050405020304" pitchFamily="18" charset="0"/>
                <a:ea typeface="+mn-ea"/>
                <a:cs typeface="Times New Roman" panose="02020603050405020304" pitchFamily="18" charset="0"/>
              </a:rPr>
              <a:t>13</a:t>
            </a:fld>
            <a:endPar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pic>
        <p:nvPicPr>
          <p:cNvPr id="4" name="图片 3" descr="图表, 折线图&#10;&#10;AI 生成的内容可能不正确。">
            <a:extLst>
              <a:ext uri="{FF2B5EF4-FFF2-40B4-BE49-F238E27FC236}">
                <a16:creationId xmlns:a16="http://schemas.microsoft.com/office/drawing/2014/main" id="{17C15B56-9410-15B1-380C-8C9C815F28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3623" y="858743"/>
            <a:ext cx="7772400" cy="5140514"/>
          </a:xfrm>
          <a:prstGeom prst="rect">
            <a:avLst/>
          </a:prstGeom>
        </p:spPr>
      </p:pic>
    </p:spTree>
    <p:extLst>
      <p:ext uri="{BB962C8B-B14F-4D97-AF65-F5344CB8AC3E}">
        <p14:creationId xmlns:p14="http://schemas.microsoft.com/office/powerpoint/2010/main" val="847512031"/>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5ADF4-B6DA-8D23-97BF-C039A0AE3480}"/>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D561AF22-9AB6-675F-E92E-4EECBB9B592A}"/>
              </a:ext>
            </a:extLst>
          </p:cNvPr>
          <p:cNvSpPr txBox="1"/>
          <p:nvPr/>
        </p:nvSpPr>
        <p:spPr>
          <a:xfrm>
            <a:off x="434873" y="-20568"/>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Details: Clustering Models</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DFB8C9A6-534D-F398-E64A-FE2D35F37D89}"/>
              </a:ext>
            </a:extLst>
          </p:cNvPr>
          <p:cNvSpPr>
            <a:spLocks noGrp="1"/>
          </p:cNvSpPr>
          <p:nvPr>
            <p:ph type="sldNum" sz="quarter" idx="11"/>
          </p:nvPr>
        </p:nvSpPr>
        <p:spPr>
          <a:xfrm>
            <a:off x="9013723" y="6356350"/>
            <a:ext cx="2743200" cy="365125"/>
          </a:xfr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50CF25-F9B6-EA4B-991F-E50888CA6F87}" type="slidenum">
              <a:rPr kumimoji="0" lang="en-US" sz="1800" b="1" i="0" u="none" strike="noStrike" kern="1200" cap="none" spc="0" normalizeH="0" baseline="0" noProof="0" smtClean="0">
                <a:ln>
                  <a:noFill/>
                </a:ln>
                <a:solidFill>
                  <a:prstClr val="white"/>
                </a:solidFill>
                <a:effectLst/>
                <a:uLnTx/>
                <a:uFillTx/>
                <a:latin typeface="Times New Roman" panose="02020603050405020304" pitchFamily="18" charset="0"/>
                <a:ea typeface="+mn-ea"/>
                <a:cs typeface="Times New Roman" panose="02020603050405020304" pitchFamily="18" charset="0"/>
              </a:rPr>
              <a:t>14</a:t>
            </a:fld>
            <a:endPar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pic>
        <p:nvPicPr>
          <p:cNvPr id="6" name="图片 5" descr="图表, 条形图&#10;&#10;AI 生成的内容可能不正确。">
            <a:extLst>
              <a:ext uri="{FF2B5EF4-FFF2-40B4-BE49-F238E27FC236}">
                <a16:creationId xmlns:a16="http://schemas.microsoft.com/office/drawing/2014/main" id="{0781B9AE-D5DD-64EC-46D1-618A100DDF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2759" y="624592"/>
            <a:ext cx="8386482" cy="5546656"/>
          </a:xfrm>
          <a:prstGeom prst="rect">
            <a:avLst/>
          </a:prstGeom>
        </p:spPr>
      </p:pic>
    </p:spTree>
    <p:extLst>
      <p:ext uri="{BB962C8B-B14F-4D97-AF65-F5344CB8AC3E}">
        <p14:creationId xmlns:p14="http://schemas.microsoft.com/office/powerpoint/2010/main" val="24951561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64293-A21C-8A94-E7BE-10D6D4E67A1D}"/>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F4110918-7E50-8947-1BE0-8157FDB4520E}"/>
              </a:ext>
            </a:extLst>
          </p:cNvPr>
          <p:cNvSpPr txBox="1"/>
          <p:nvPr/>
        </p:nvSpPr>
        <p:spPr>
          <a:xfrm>
            <a:off x="434873" y="-20568"/>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Conclusions: Results Summary</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EC79A0BF-31BF-DAAB-1FA4-3B0FD6F7A4BC}"/>
              </a:ext>
            </a:extLst>
          </p:cNvPr>
          <p:cNvSpPr>
            <a:spLocks noGrp="1"/>
          </p:cNvSpPr>
          <p:nvPr>
            <p:ph type="sldNum" sz="quarter" idx="11"/>
          </p:nvPr>
        </p:nvSpPr>
        <p:spPr>
          <a:xfrm>
            <a:off x="9013723" y="6356350"/>
            <a:ext cx="2743200" cy="365125"/>
          </a:xfr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50CF25-F9B6-EA4B-991F-E50888CA6F87}" type="slidenum">
              <a:rPr kumimoji="0" lang="en-US" sz="1800" b="1" i="0" u="none" strike="noStrike" kern="1200" cap="none" spc="0" normalizeH="0" baseline="0" noProof="0" smtClean="0">
                <a:ln>
                  <a:noFill/>
                </a:ln>
                <a:solidFill>
                  <a:prstClr val="white"/>
                </a:solidFill>
                <a:effectLst/>
                <a:uLnTx/>
                <a:uFillTx/>
                <a:latin typeface="Times New Roman" panose="02020603050405020304" pitchFamily="18" charset="0"/>
                <a:ea typeface="+mn-ea"/>
                <a:cs typeface="Times New Roman" panose="02020603050405020304" pitchFamily="18" charset="0"/>
              </a:rPr>
              <a:t>15</a:t>
            </a:fld>
            <a:endPar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4" name="文本框 3">
            <a:extLst>
              <a:ext uri="{FF2B5EF4-FFF2-40B4-BE49-F238E27FC236}">
                <a16:creationId xmlns:a16="http://schemas.microsoft.com/office/drawing/2014/main" id="{EE5BB771-4493-C183-299D-E811DC097723}"/>
              </a:ext>
            </a:extLst>
          </p:cNvPr>
          <p:cNvSpPr txBox="1"/>
          <p:nvPr/>
        </p:nvSpPr>
        <p:spPr>
          <a:xfrm>
            <a:off x="434873" y="397317"/>
            <a:ext cx="10541876" cy="5355312"/>
          </a:xfrm>
          <a:prstGeom prst="rect">
            <a:avLst/>
          </a:prstGeom>
          <a:noFill/>
        </p:spPr>
        <p:txBody>
          <a:bodyPr wrap="square" rtlCol="0">
            <a:spAutoFit/>
          </a:bodyPr>
          <a:lstStyle/>
          <a:p>
            <a:pPr>
              <a:lnSpc>
                <a:spcPct val="150000"/>
              </a:lnSpc>
            </a:pPr>
            <a:endParaRPr kumimoji="1" lang="en" altLang="zh-CN" dirty="0">
              <a:latin typeface="Palatino" pitchFamily="2" charset="0"/>
              <a:ea typeface="Palatino" pitchFamily="2" charset="0"/>
            </a:endParaRPr>
          </a:p>
          <a:p>
            <a:pPr>
              <a:lnSpc>
                <a:spcPct val="150000"/>
              </a:lnSpc>
            </a:pPr>
            <a:r>
              <a:rPr lang="en" altLang="zh-CN" dirty="0">
                <a:latin typeface="Palatino" pitchFamily="2" charset="0"/>
                <a:ea typeface="Palatino" pitchFamily="2" charset="0"/>
              </a:rPr>
              <a:t>This project performed end-to-end analysis of earthquake data, including data cleaning, feature engineering, EDA, multi-model comparison (classification, regression), and spatial clustering.</a:t>
            </a:r>
          </a:p>
          <a:p>
            <a:pPr>
              <a:lnSpc>
                <a:spcPct val="150000"/>
              </a:lnSpc>
            </a:pPr>
            <a:endParaRPr kumimoji="1" lang="en" altLang="zh-CN" dirty="0">
              <a:latin typeface="Palatino" pitchFamily="2" charset="0"/>
              <a:ea typeface="Palatino" pitchFamily="2" charset="0"/>
            </a:endParaRPr>
          </a:p>
          <a:p>
            <a:pPr>
              <a:lnSpc>
                <a:spcPct val="150000"/>
              </a:lnSpc>
            </a:pPr>
            <a:r>
              <a:rPr kumimoji="1" lang="en" altLang="zh-CN" dirty="0">
                <a:solidFill>
                  <a:srgbClr val="FF0000"/>
                </a:solidFill>
                <a:latin typeface="Palatino" pitchFamily="2" charset="0"/>
                <a:ea typeface="Palatino" pitchFamily="2" charset="0"/>
              </a:rPr>
              <a:t>Classification</a:t>
            </a:r>
            <a:r>
              <a:rPr kumimoji="1" lang="en" altLang="zh-CN" dirty="0">
                <a:latin typeface="Palatino" pitchFamily="2" charset="0"/>
                <a:ea typeface="Palatino" pitchFamily="2" charset="0"/>
              </a:rPr>
              <a:t> Model: </a:t>
            </a:r>
            <a:r>
              <a:rPr lang="en" altLang="zh-CN" dirty="0">
                <a:latin typeface="Palatino" pitchFamily="2" charset="0"/>
                <a:ea typeface="Palatino" pitchFamily="2" charset="0"/>
              </a:rPr>
              <a:t>To predict whether "</a:t>
            </a:r>
            <a:r>
              <a:rPr lang="en" altLang="zh-CN" b="1" dirty="0">
                <a:latin typeface="Palatino" pitchFamily="2" charset="0"/>
                <a:ea typeface="Palatino" pitchFamily="2" charset="0"/>
              </a:rPr>
              <a:t>major </a:t>
            </a:r>
            <a:r>
              <a:rPr lang="en" altLang="zh-CN" dirty="0">
                <a:latin typeface="Palatino" pitchFamily="2" charset="0"/>
                <a:ea typeface="Palatino" pitchFamily="2" charset="0"/>
              </a:rPr>
              <a:t>earthquakes" (magnitude ≥4.5), </a:t>
            </a:r>
            <a:r>
              <a:rPr lang="en" altLang="zh-CN" b="1" dirty="0">
                <a:latin typeface="Palatino" pitchFamily="2" charset="0"/>
                <a:ea typeface="Palatino" pitchFamily="2" charset="0"/>
              </a:rPr>
              <a:t>Random Forest </a:t>
            </a:r>
            <a:r>
              <a:rPr lang="en" altLang="zh-CN" dirty="0">
                <a:latin typeface="Palatino" pitchFamily="2" charset="0"/>
                <a:ea typeface="Palatino" pitchFamily="2" charset="0"/>
              </a:rPr>
              <a:t>achieved the best performance (F1=0.678, AUC=0.649).</a:t>
            </a:r>
          </a:p>
          <a:p>
            <a:pPr>
              <a:lnSpc>
                <a:spcPct val="150000"/>
              </a:lnSpc>
            </a:pPr>
            <a:endParaRPr lang="en" altLang="zh-CN" dirty="0">
              <a:latin typeface="Palatino" pitchFamily="2" charset="0"/>
              <a:ea typeface="Palatino" pitchFamily="2" charset="0"/>
            </a:endParaRPr>
          </a:p>
          <a:p>
            <a:pPr>
              <a:lnSpc>
                <a:spcPct val="150000"/>
              </a:lnSpc>
            </a:pPr>
            <a:r>
              <a:rPr kumimoji="1" lang="en" altLang="zh-CN" dirty="0">
                <a:solidFill>
                  <a:srgbClr val="FF0000"/>
                </a:solidFill>
                <a:latin typeface="Palatino" pitchFamily="2" charset="0"/>
                <a:ea typeface="Palatino" pitchFamily="2" charset="0"/>
              </a:rPr>
              <a:t>Regression</a:t>
            </a:r>
            <a:r>
              <a:rPr kumimoji="1" lang="en" altLang="zh-CN" dirty="0">
                <a:latin typeface="Palatino" pitchFamily="2" charset="0"/>
                <a:ea typeface="Palatino" pitchFamily="2" charset="0"/>
              </a:rPr>
              <a:t> Model: </a:t>
            </a:r>
            <a:r>
              <a:rPr lang="en" altLang="zh-CN" dirty="0">
                <a:latin typeface="Palatino" pitchFamily="2" charset="0"/>
                <a:ea typeface="Palatino" pitchFamily="2" charset="0"/>
              </a:rPr>
              <a:t>To predict earthquake </a:t>
            </a:r>
            <a:r>
              <a:rPr lang="en" altLang="zh-CN" b="1" dirty="0">
                <a:latin typeface="Palatino" pitchFamily="2" charset="0"/>
                <a:ea typeface="Palatino" pitchFamily="2" charset="0"/>
              </a:rPr>
              <a:t>magnitude</a:t>
            </a:r>
            <a:r>
              <a:rPr lang="en" altLang="zh-CN" dirty="0">
                <a:latin typeface="Palatino" pitchFamily="2" charset="0"/>
                <a:ea typeface="Palatino" pitchFamily="2" charset="0"/>
              </a:rPr>
              <a:t>, </a:t>
            </a:r>
            <a:r>
              <a:rPr lang="en" altLang="zh-CN" b="1" dirty="0">
                <a:latin typeface="Palatino" pitchFamily="2" charset="0"/>
                <a:ea typeface="Palatino" pitchFamily="2" charset="0"/>
              </a:rPr>
              <a:t>Gradient Boosting </a:t>
            </a:r>
            <a:r>
              <a:rPr lang="en" altLang="zh-CN" dirty="0">
                <a:latin typeface="Palatino" pitchFamily="2" charset="0"/>
                <a:ea typeface="Palatino" pitchFamily="2" charset="0"/>
              </a:rPr>
              <a:t>performed best (R²=0.497, MAE≈0.5).</a:t>
            </a:r>
          </a:p>
          <a:p>
            <a:pPr>
              <a:lnSpc>
                <a:spcPct val="150000"/>
              </a:lnSpc>
            </a:pPr>
            <a:endParaRPr lang="en" altLang="zh-CN" dirty="0">
              <a:latin typeface="Palatino" pitchFamily="2" charset="0"/>
              <a:ea typeface="Palatino" pitchFamily="2" charset="0"/>
            </a:endParaRPr>
          </a:p>
          <a:p>
            <a:pPr>
              <a:lnSpc>
                <a:spcPct val="150000"/>
              </a:lnSpc>
            </a:pPr>
            <a:r>
              <a:rPr kumimoji="1" lang="en" altLang="zh-CN" dirty="0">
                <a:solidFill>
                  <a:srgbClr val="FF0000"/>
                </a:solidFill>
                <a:latin typeface="Palatino" pitchFamily="2" charset="0"/>
                <a:ea typeface="Palatino" pitchFamily="2" charset="0"/>
              </a:rPr>
              <a:t>Clustering</a:t>
            </a:r>
            <a:r>
              <a:rPr kumimoji="1" lang="en" altLang="zh-CN" dirty="0">
                <a:latin typeface="Palatino" pitchFamily="2" charset="0"/>
                <a:ea typeface="Palatino" pitchFamily="2" charset="0"/>
              </a:rPr>
              <a:t> Model: </a:t>
            </a:r>
            <a:r>
              <a:rPr lang="en" altLang="zh-CN" dirty="0">
                <a:latin typeface="Palatino" pitchFamily="2" charset="0"/>
                <a:ea typeface="Palatino" pitchFamily="2" charset="0"/>
              </a:rPr>
              <a:t>Spatial analysis (DBSCAN/</a:t>
            </a:r>
            <a:r>
              <a:rPr lang="en" altLang="zh-CN" dirty="0" err="1">
                <a:latin typeface="Palatino" pitchFamily="2" charset="0"/>
                <a:ea typeface="Palatino" pitchFamily="2" charset="0"/>
              </a:rPr>
              <a:t>KMeans</a:t>
            </a:r>
            <a:r>
              <a:rPr lang="en" altLang="zh-CN" dirty="0">
                <a:latin typeface="Palatino" pitchFamily="2" charset="0"/>
                <a:ea typeface="Palatino" pitchFamily="2" charset="0"/>
              </a:rPr>
              <a:t>) identified 5–8 seismic clusters, with </a:t>
            </a:r>
            <a:r>
              <a:rPr lang="en" altLang="zh-CN" b="1" dirty="0" err="1">
                <a:latin typeface="Palatino" pitchFamily="2" charset="0"/>
                <a:ea typeface="Palatino" pitchFamily="2" charset="0"/>
              </a:rPr>
              <a:t>KMeans</a:t>
            </a:r>
            <a:r>
              <a:rPr lang="en" altLang="zh-CN" b="1" dirty="0">
                <a:latin typeface="Palatino" pitchFamily="2" charset="0"/>
                <a:ea typeface="Palatino" pitchFamily="2" charset="0"/>
              </a:rPr>
              <a:t> </a:t>
            </a:r>
            <a:r>
              <a:rPr lang="en" altLang="zh-CN" dirty="0">
                <a:latin typeface="Palatino" pitchFamily="2" charset="0"/>
                <a:ea typeface="Palatino" pitchFamily="2" charset="0"/>
              </a:rPr>
              <a:t>(K=2) showing clearer </a:t>
            </a:r>
            <a:r>
              <a:rPr lang="en" altLang="zh-CN" b="1" dirty="0">
                <a:latin typeface="Palatino" pitchFamily="2" charset="0"/>
                <a:ea typeface="Palatino" pitchFamily="2" charset="0"/>
              </a:rPr>
              <a:t>spatial </a:t>
            </a:r>
            <a:r>
              <a:rPr lang="en" altLang="zh-CN" dirty="0">
                <a:latin typeface="Palatino" pitchFamily="2" charset="0"/>
                <a:ea typeface="Palatino" pitchFamily="2" charset="0"/>
              </a:rPr>
              <a:t>patterns.</a:t>
            </a:r>
          </a:p>
          <a:p>
            <a:endParaRPr kumimoji="1" lang="en" altLang="zh-CN" dirty="0"/>
          </a:p>
        </p:txBody>
      </p:sp>
    </p:spTree>
    <p:extLst>
      <p:ext uri="{BB962C8B-B14F-4D97-AF65-F5344CB8AC3E}">
        <p14:creationId xmlns:p14="http://schemas.microsoft.com/office/powerpoint/2010/main" val="2927891957"/>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41F87-BF5D-9476-7E94-2D130D336C60}"/>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1D23D34A-D17D-EBC4-1901-B6E21310D315}"/>
              </a:ext>
            </a:extLst>
          </p:cNvPr>
          <p:cNvSpPr txBox="1"/>
          <p:nvPr/>
        </p:nvSpPr>
        <p:spPr>
          <a:xfrm>
            <a:off x="434873" y="-20568"/>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Conclusions: Key Findings</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ACF9CE63-061D-3000-BDCB-40E87B9D9034}"/>
              </a:ext>
            </a:extLst>
          </p:cNvPr>
          <p:cNvSpPr>
            <a:spLocks noGrp="1"/>
          </p:cNvSpPr>
          <p:nvPr>
            <p:ph type="sldNum" sz="quarter" idx="11"/>
          </p:nvPr>
        </p:nvSpPr>
        <p:spPr>
          <a:xfrm>
            <a:off x="9013723" y="6356350"/>
            <a:ext cx="2743200" cy="365125"/>
          </a:xfr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50CF25-F9B6-EA4B-991F-E50888CA6F87}" type="slidenum">
              <a:rPr kumimoji="0" lang="en-US" sz="1800" b="1" i="0" u="none" strike="noStrike" kern="1200" cap="none" spc="0" normalizeH="0" baseline="0" noProof="0" smtClean="0">
                <a:ln>
                  <a:noFill/>
                </a:ln>
                <a:solidFill>
                  <a:prstClr val="white"/>
                </a:solidFill>
                <a:effectLst/>
                <a:uLnTx/>
                <a:uFillTx/>
                <a:latin typeface="Times New Roman" panose="02020603050405020304" pitchFamily="18" charset="0"/>
                <a:ea typeface="+mn-ea"/>
                <a:cs typeface="Times New Roman" panose="02020603050405020304" pitchFamily="18" charset="0"/>
              </a:rPr>
              <a:t>16</a:t>
            </a:fld>
            <a:endPar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4" name="文本框 3">
            <a:extLst>
              <a:ext uri="{FF2B5EF4-FFF2-40B4-BE49-F238E27FC236}">
                <a16:creationId xmlns:a16="http://schemas.microsoft.com/office/drawing/2014/main" id="{1FACA533-BC59-646F-1EB8-FF5B3E5CCB9C}"/>
              </a:ext>
            </a:extLst>
          </p:cNvPr>
          <p:cNvSpPr txBox="1"/>
          <p:nvPr/>
        </p:nvSpPr>
        <p:spPr>
          <a:xfrm>
            <a:off x="434873" y="760877"/>
            <a:ext cx="10541876" cy="5459187"/>
          </a:xfrm>
          <a:prstGeom prst="rect">
            <a:avLst/>
          </a:prstGeom>
          <a:noFill/>
        </p:spPr>
        <p:txBody>
          <a:bodyPr wrap="square" rtlCol="0">
            <a:spAutoFit/>
          </a:bodyPr>
          <a:lstStyle/>
          <a:p>
            <a:pPr>
              <a:lnSpc>
                <a:spcPct val="150000"/>
              </a:lnSpc>
            </a:pPr>
            <a:r>
              <a:rPr kumimoji="1" lang="en" altLang="zh-CN" dirty="0">
                <a:latin typeface="Palatino" pitchFamily="2" charset="0"/>
                <a:ea typeface="Palatino" pitchFamily="2" charset="0"/>
              </a:rPr>
              <a:t>Model Performance:</a:t>
            </a:r>
          </a:p>
          <a:p>
            <a:pPr>
              <a:lnSpc>
                <a:spcPct val="150000"/>
              </a:lnSpc>
            </a:pPr>
            <a:r>
              <a:rPr lang="en" altLang="zh-CN" b="1" dirty="0">
                <a:latin typeface="Palatino" pitchFamily="2" charset="0"/>
                <a:ea typeface="Palatino" pitchFamily="2" charset="0"/>
              </a:rPr>
              <a:t>Tree-based</a:t>
            </a:r>
            <a:r>
              <a:rPr lang="en" altLang="zh-CN" dirty="0">
                <a:latin typeface="Palatino" pitchFamily="2" charset="0"/>
                <a:ea typeface="Palatino" pitchFamily="2" charset="0"/>
              </a:rPr>
              <a:t> ensemble models (Random Forest, Gradient Boosting, </a:t>
            </a:r>
            <a:r>
              <a:rPr lang="en" altLang="zh-CN" dirty="0" err="1">
                <a:latin typeface="Palatino" pitchFamily="2" charset="0"/>
                <a:ea typeface="Palatino" pitchFamily="2" charset="0"/>
              </a:rPr>
              <a:t>XGBoost</a:t>
            </a:r>
            <a:r>
              <a:rPr lang="en" altLang="zh-CN" dirty="0">
                <a:latin typeface="Palatino" pitchFamily="2" charset="0"/>
                <a:ea typeface="Palatino" pitchFamily="2" charset="0"/>
              </a:rPr>
              <a:t>) </a:t>
            </a:r>
            <a:r>
              <a:rPr lang="en" altLang="zh-CN" b="1" dirty="0">
                <a:latin typeface="Palatino" pitchFamily="2" charset="0"/>
                <a:ea typeface="Palatino" pitchFamily="2" charset="0"/>
              </a:rPr>
              <a:t>outperform</a:t>
            </a:r>
            <a:r>
              <a:rPr lang="en" altLang="zh-CN" dirty="0">
                <a:latin typeface="Palatino" pitchFamily="2" charset="0"/>
                <a:ea typeface="Palatino" pitchFamily="2" charset="0"/>
              </a:rPr>
              <a:t> linear models (Logistic Regression, Linear Regression) and simple models (KNN, Naive Bayes) in both classification and regression.</a:t>
            </a:r>
          </a:p>
          <a:p>
            <a:pPr>
              <a:lnSpc>
                <a:spcPct val="150000"/>
              </a:lnSpc>
            </a:pPr>
            <a:r>
              <a:rPr lang="en" altLang="zh-CN" dirty="0">
                <a:latin typeface="Palatino" pitchFamily="2" charset="0"/>
                <a:ea typeface="Palatino" pitchFamily="2" charset="0"/>
              </a:rPr>
              <a:t>Feature importance analysis shows </a:t>
            </a:r>
            <a:r>
              <a:rPr lang="en" altLang="zh-CN" b="1" dirty="0">
                <a:latin typeface="Palatino" pitchFamily="2" charset="0"/>
                <a:ea typeface="Palatino" pitchFamily="2" charset="0"/>
              </a:rPr>
              <a:t>spatial clusters, lagged magnitude/depth</a:t>
            </a:r>
            <a:r>
              <a:rPr lang="en" altLang="zh-CN" dirty="0">
                <a:latin typeface="Palatino" pitchFamily="2" charset="0"/>
                <a:ea typeface="Palatino" pitchFamily="2" charset="0"/>
              </a:rPr>
              <a:t>, and</a:t>
            </a:r>
            <a:r>
              <a:rPr lang="en" altLang="zh-CN" b="1" dirty="0">
                <a:latin typeface="Palatino" pitchFamily="2" charset="0"/>
                <a:ea typeface="Palatino" pitchFamily="2" charset="0"/>
              </a:rPr>
              <a:t> rolling statistics</a:t>
            </a:r>
            <a:r>
              <a:rPr lang="en" altLang="zh-CN" dirty="0">
                <a:latin typeface="Palatino" pitchFamily="2" charset="0"/>
                <a:ea typeface="Palatino" pitchFamily="2" charset="0"/>
              </a:rPr>
              <a:t> (e.g., 7/30-day average magnitude) are critical for predictions.</a:t>
            </a:r>
          </a:p>
          <a:p>
            <a:pPr>
              <a:lnSpc>
                <a:spcPct val="150000"/>
              </a:lnSpc>
            </a:pPr>
            <a:endParaRPr kumimoji="1" lang="en" altLang="zh-CN" dirty="0">
              <a:latin typeface="Palatino" pitchFamily="2" charset="0"/>
              <a:ea typeface="Palatino" pitchFamily="2" charset="0"/>
            </a:endParaRPr>
          </a:p>
          <a:p>
            <a:pPr>
              <a:lnSpc>
                <a:spcPct val="150000"/>
              </a:lnSpc>
            </a:pPr>
            <a:endParaRPr kumimoji="1" lang="en" altLang="zh-CN" dirty="0">
              <a:latin typeface="Palatino" pitchFamily="2" charset="0"/>
              <a:ea typeface="Palatino" pitchFamily="2" charset="0"/>
            </a:endParaRPr>
          </a:p>
          <a:p>
            <a:pPr>
              <a:lnSpc>
                <a:spcPct val="150000"/>
              </a:lnSpc>
            </a:pPr>
            <a:r>
              <a:rPr kumimoji="1" lang="en" altLang="zh-CN" dirty="0">
                <a:latin typeface="Palatino" pitchFamily="2" charset="0"/>
                <a:ea typeface="Palatino" pitchFamily="2" charset="0"/>
              </a:rPr>
              <a:t>Spatial Patterns:</a:t>
            </a:r>
          </a:p>
          <a:p>
            <a:pPr>
              <a:lnSpc>
                <a:spcPct val="150000"/>
              </a:lnSpc>
            </a:pPr>
            <a:r>
              <a:rPr lang="en" altLang="zh-CN" dirty="0">
                <a:latin typeface="Palatino" pitchFamily="2" charset="0"/>
                <a:ea typeface="Palatino" pitchFamily="2" charset="0"/>
              </a:rPr>
              <a:t>Earthquakes concentrate in specific </a:t>
            </a:r>
            <a:r>
              <a:rPr lang="en" altLang="zh-CN" b="1" dirty="0">
                <a:latin typeface="Palatino" pitchFamily="2" charset="0"/>
                <a:ea typeface="Palatino" pitchFamily="2" charset="0"/>
              </a:rPr>
              <a:t>regions</a:t>
            </a:r>
            <a:r>
              <a:rPr lang="en" altLang="zh-CN" dirty="0">
                <a:latin typeface="Palatino" pitchFamily="2" charset="0"/>
                <a:ea typeface="Palatino" pitchFamily="2" charset="0"/>
              </a:rPr>
              <a:t> (e.g., high-density clusters in the 0–50° longitude range), consistent with known tectonic zones.</a:t>
            </a:r>
          </a:p>
          <a:p>
            <a:pPr>
              <a:lnSpc>
                <a:spcPct val="150000"/>
              </a:lnSpc>
            </a:pPr>
            <a:r>
              <a:rPr lang="en" altLang="zh-CN" b="1" dirty="0">
                <a:latin typeface="Palatino" pitchFamily="2" charset="0"/>
                <a:ea typeface="Palatino" pitchFamily="2" charset="0"/>
              </a:rPr>
              <a:t>Aftershock</a:t>
            </a:r>
            <a:r>
              <a:rPr lang="en" altLang="zh-CN" dirty="0">
                <a:latin typeface="Palatino" pitchFamily="2" charset="0"/>
                <a:ea typeface="Palatino" pitchFamily="2" charset="0"/>
              </a:rPr>
              <a:t> identification (time difference &lt;24h, distance &lt;50km) helps improve model accuracy.</a:t>
            </a:r>
          </a:p>
          <a:p>
            <a:pPr>
              <a:lnSpc>
                <a:spcPct val="150000"/>
              </a:lnSpc>
            </a:pPr>
            <a:endParaRPr kumimoji="1" lang="en" altLang="zh-CN" dirty="0">
              <a:latin typeface="Palatino" pitchFamily="2" charset="0"/>
              <a:ea typeface="Palatino" pitchFamily="2" charset="0"/>
            </a:endParaRPr>
          </a:p>
        </p:txBody>
      </p:sp>
    </p:spTree>
    <p:extLst>
      <p:ext uri="{BB962C8B-B14F-4D97-AF65-F5344CB8AC3E}">
        <p14:creationId xmlns:p14="http://schemas.microsoft.com/office/powerpoint/2010/main" val="228316493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CA66D-AAE6-C8B7-0B84-E6653BCA3D5E}"/>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789FDBA1-682D-850B-7648-92807A37723B}"/>
              </a:ext>
            </a:extLst>
          </p:cNvPr>
          <p:cNvSpPr txBox="1"/>
          <p:nvPr/>
        </p:nvSpPr>
        <p:spPr>
          <a:xfrm>
            <a:off x="434873" y="-20568"/>
            <a:ext cx="931115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rPr>
              <a:t>Conclusions: Limitations</a:t>
            </a:r>
            <a:endParaRPr kumimoji="0" lang="zh-CN" altLang="en-US" sz="3600" b="1" i="0" u="none" strike="noStrike" kern="1200" cap="none" spc="0" normalizeH="0" baseline="0" noProof="0" dirty="0">
              <a:ln>
                <a:noFill/>
              </a:ln>
              <a:solidFill>
                <a:srgbClr val="0E5E96"/>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BBCF213F-8043-9627-56CE-A89DDA9E19DF}"/>
              </a:ext>
            </a:extLst>
          </p:cNvPr>
          <p:cNvSpPr>
            <a:spLocks noGrp="1"/>
          </p:cNvSpPr>
          <p:nvPr>
            <p:ph type="sldNum" sz="quarter" idx="11"/>
          </p:nvPr>
        </p:nvSpPr>
        <p:spPr>
          <a:xfrm>
            <a:off x="9013723" y="6356350"/>
            <a:ext cx="2743200" cy="365125"/>
          </a:xfr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50CF25-F9B6-EA4B-991F-E50888CA6F87}" type="slidenum">
              <a:rPr kumimoji="0" lang="en-US" sz="1800" b="1" i="0" u="none" strike="noStrike" kern="1200" cap="none" spc="0" normalizeH="0" baseline="0" noProof="0" smtClean="0">
                <a:ln>
                  <a:noFill/>
                </a:ln>
                <a:solidFill>
                  <a:prstClr val="white"/>
                </a:solidFill>
                <a:effectLst/>
                <a:uLnTx/>
                <a:uFillTx/>
                <a:latin typeface="Times New Roman" panose="02020603050405020304" pitchFamily="18" charset="0"/>
                <a:ea typeface="+mn-ea"/>
                <a:cs typeface="Times New Roman" panose="02020603050405020304" pitchFamily="18" charset="0"/>
              </a:rPr>
              <a:t>17</a:t>
            </a:fld>
            <a:endPar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4" name="文本框 3">
            <a:extLst>
              <a:ext uri="{FF2B5EF4-FFF2-40B4-BE49-F238E27FC236}">
                <a16:creationId xmlns:a16="http://schemas.microsoft.com/office/drawing/2014/main" id="{EC480E19-ACC1-FC73-7DA3-C0B8D96AC9C0}"/>
              </a:ext>
            </a:extLst>
          </p:cNvPr>
          <p:cNvSpPr txBox="1"/>
          <p:nvPr/>
        </p:nvSpPr>
        <p:spPr>
          <a:xfrm>
            <a:off x="434873" y="624592"/>
            <a:ext cx="10541876" cy="5643853"/>
          </a:xfrm>
          <a:prstGeom prst="rect">
            <a:avLst/>
          </a:prstGeom>
          <a:noFill/>
        </p:spPr>
        <p:txBody>
          <a:bodyPr wrap="square" rtlCol="0">
            <a:spAutoFit/>
          </a:bodyPr>
          <a:lstStyle/>
          <a:p>
            <a:pPr>
              <a:lnSpc>
                <a:spcPct val="150000"/>
              </a:lnSpc>
            </a:pPr>
            <a:r>
              <a:rPr kumimoji="1" lang="en" altLang="zh-CN" sz="1600" dirty="0">
                <a:latin typeface="Palatino" pitchFamily="2" charset="0"/>
                <a:ea typeface="Palatino" pitchFamily="2" charset="0"/>
              </a:rPr>
              <a:t>Data Constraints:</a:t>
            </a:r>
          </a:p>
          <a:p>
            <a:pPr>
              <a:lnSpc>
                <a:spcPct val="150000"/>
              </a:lnSpc>
            </a:pPr>
            <a:r>
              <a:rPr lang="en" altLang="zh-CN" sz="1600" dirty="0">
                <a:latin typeface="Palatino" pitchFamily="2" charset="0"/>
                <a:ea typeface="Palatino" pitchFamily="2" charset="0"/>
              </a:rPr>
              <a:t>1. The dataset </a:t>
            </a:r>
            <a:r>
              <a:rPr lang="en" altLang="zh-CN" sz="1600" b="1" dirty="0">
                <a:latin typeface="Palatino" pitchFamily="2" charset="0"/>
                <a:ea typeface="Palatino" pitchFamily="2" charset="0"/>
              </a:rPr>
              <a:t>size</a:t>
            </a:r>
            <a:r>
              <a:rPr lang="en" altLang="zh-CN" sz="1600" dirty="0">
                <a:latin typeface="Palatino" pitchFamily="2" charset="0"/>
                <a:ea typeface="Palatino" pitchFamily="2" charset="0"/>
              </a:rPr>
              <a:t> (1,308 records) is relatively </a:t>
            </a:r>
            <a:r>
              <a:rPr lang="en" altLang="zh-CN" sz="1600" b="1" dirty="0">
                <a:latin typeface="Palatino" pitchFamily="2" charset="0"/>
                <a:ea typeface="Palatino" pitchFamily="2" charset="0"/>
              </a:rPr>
              <a:t>small</a:t>
            </a:r>
            <a:r>
              <a:rPr lang="en" altLang="zh-CN" sz="1600" dirty="0">
                <a:latin typeface="Palatino" pitchFamily="2" charset="0"/>
                <a:ea typeface="Palatino" pitchFamily="2" charset="0"/>
              </a:rPr>
              <a:t>, limiting the generalization ability of complex models.</a:t>
            </a:r>
          </a:p>
          <a:p>
            <a:pPr>
              <a:lnSpc>
                <a:spcPct val="150000"/>
              </a:lnSpc>
            </a:pPr>
            <a:r>
              <a:rPr lang="en" altLang="zh-CN" sz="1600" dirty="0">
                <a:latin typeface="Palatino" pitchFamily="2" charset="0"/>
                <a:ea typeface="Palatino" pitchFamily="2" charset="0"/>
              </a:rPr>
              <a:t>2. </a:t>
            </a:r>
            <a:r>
              <a:rPr lang="en" altLang="zh-CN" sz="1600" b="1" dirty="0">
                <a:latin typeface="Palatino" pitchFamily="2" charset="0"/>
                <a:ea typeface="Palatino" pitchFamily="2" charset="0"/>
              </a:rPr>
              <a:t>Missing features</a:t>
            </a:r>
            <a:r>
              <a:rPr lang="en" altLang="zh-CN" sz="1600" dirty="0">
                <a:latin typeface="Palatino" pitchFamily="2" charset="0"/>
                <a:ea typeface="Palatino" pitchFamily="2" charset="0"/>
              </a:rPr>
              <a:t> (e.g., tectonic plate boundaries, historical seismic activity) </a:t>
            </a:r>
            <a:r>
              <a:rPr lang="en" altLang="zh-CN" sz="1600" b="1" dirty="0">
                <a:latin typeface="Palatino" pitchFamily="2" charset="0"/>
                <a:ea typeface="Palatino" pitchFamily="2" charset="0"/>
              </a:rPr>
              <a:t>reduce</a:t>
            </a:r>
            <a:r>
              <a:rPr lang="en" altLang="zh-CN" sz="1600" dirty="0">
                <a:latin typeface="Palatino" pitchFamily="2" charset="0"/>
                <a:ea typeface="Palatino" pitchFamily="2" charset="0"/>
              </a:rPr>
              <a:t> prediction accuracy.</a:t>
            </a:r>
          </a:p>
          <a:p>
            <a:pPr>
              <a:lnSpc>
                <a:spcPct val="150000"/>
              </a:lnSpc>
            </a:pPr>
            <a:endParaRPr lang="en" altLang="zh-CN" sz="1600" dirty="0">
              <a:latin typeface="Palatino" pitchFamily="2" charset="0"/>
              <a:ea typeface="Palatino" pitchFamily="2" charset="0"/>
            </a:endParaRPr>
          </a:p>
          <a:p>
            <a:pPr>
              <a:lnSpc>
                <a:spcPct val="150000"/>
              </a:lnSpc>
            </a:pPr>
            <a:r>
              <a:rPr kumimoji="1" lang="en" altLang="zh-CN" sz="1600" dirty="0">
                <a:latin typeface="Palatino" pitchFamily="2" charset="0"/>
                <a:ea typeface="Palatino" pitchFamily="2" charset="0"/>
              </a:rPr>
              <a:t>Model Limitations:</a:t>
            </a:r>
          </a:p>
          <a:p>
            <a:pPr>
              <a:lnSpc>
                <a:spcPct val="150000"/>
              </a:lnSpc>
            </a:pPr>
            <a:r>
              <a:rPr lang="en" altLang="zh-CN" sz="1600" dirty="0">
                <a:latin typeface="Palatino" pitchFamily="2" charset="0"/>
                <a:ea typeface="Palatino" pitchFamily="2" charset="0"/>
              </a:rPr>
              <a:t>1. The best R² (0.497) for magnitude prediction is low—earthquake magnitude is inherently </a:t>
            </a:r>
            <a:r>
              <a:rPr lang="en" altLang="zh-CN" sz="1600" b="1" dirty="0">
                <a:solidFill>
                  <a:srgbClr val="FF0000"/>
                </a:solidFill>
                <a:latin typeface="Palatino" pitchFamily="2" charset="0"/>
                <a:ea typeface="Palatino" pitchFamily="2" charset="0"/>
              </a:rPr>
              <a:t>stochastic</a:t>
            </a:r>
            <a:r>
              <a:rPr lang="en" altLang="zh-CN" sz="1600" dirty="0">
                <a:latin typeface="Palatino" pitchFamily="2" charset="0"/>
                <a:ea typeface="Palatino" pitchFamily="2" charset="0"/>
              </a:rPr>
              <a:t>, and current features cannot fully capture its variability.</a:t>
            </a:r>
          </a:p>
          <a:p>
            <a:pPr>
              <a:lnSpc>
                <a:spcPct val="150000"/>
              </a:lnSpc>
            </a:pPr>
            <a:r>
              <a:rPr lang="en" altLang="zh-CN" sz="1600" dirty="0">
                <a:latin typeface="Palatino" pitchFamily="2" charset="0"/>
                <a:ea typeface="Palatino" pitchFamily="2" charset="0"/>
              </a:rPr>
              <a:t>2. Classification models struggle with imbalanced data (few major earthquakes), leading to suboptimal recall.</a:t>
            </a:r>
          </a:p>
          <a:p>
            <a:pPr>
              <a:lnSpc>
                <a:spcPct val="150000"/>
              </a:lnSpc>
            </a:pPr>
            <a:endParaRPr kumimoji="1" lang="en" altLang="zh-CN" sz="1600" dirty="0">
              <a:latin typeface="Palatino" pitchFamily="2" charset="0"/>
              <a:ea typeface="Palatino" pitchFamily="2" charset="0"/>
            </a:endParaRPr>
          </a:p>
          <a:p>
            <a:pPr>
              <a:lnSpc>
                <a:spcPct val="150000"/>
              </a:lnSpc>
            </a:pPr>
            <a:r>
              <a:rPr kumimoji="1" lang="en" altLang="zh-CN" sz="1600" dirty="0">
                <a:latin typeface="Palatino" pitchFamily="2" charset="0"/>
                <a:ea typeface="Palatino" pitchFamily="2" charset="0"/>
              </a:rPr>
              <a:t>Methodological Gaps:</a:t>
            </a:r>
          </a:p>
          <a:p>
            <a:pPr>
              <a:lnSpc>
                <a:spcPct val="150000"/>
              </a:lnSpc>
            </a:pPr>
            <a:r>
              <a:rPr lang="en" altLang="zh-CN" sz="1600" dirty="0">
                <a:latin typeface="Palatino" pitchFamily="2" charset="0"/>
                <a:ea typeface="Palatino" pitchFamily="2" charset="0"/>
              </a:rPr>
              <a:t>1. Time-series splitting (TSCV) was used, but </a:t>
            </a:r>
            <a:r>
              <a:rPr lang="en" altLang="zh-CN" sz="1600" b="1" dirty="0">
                <a:latin typeface="Palatino" pitchFamily="2" charset="0"/>
                <a:ea typeface="Palatino" pitchFamily="2" charset="0"/>
              </a:rPr>
              <a:t>no external</a:t>
            </a:r>
            <a:r>
              <a:rPr lang="en" altLang="zh-CN" sz="1600" dirty="0">
                <a:latin typeface="Palatino" pitchFamily="2" charset="0"/>
                <a:ea typeface="Palatino" pitchFamily="2" charset="0"/>
              </a:rPr>
              <a:t> validation dataset was available to test </a:t>
            </a:r>
            <a:r>
              <a:rPr lang="en" altLang="zh-CN" sz="1600" b="1" dirty="0">
                <a:latin typeface="Palatino" pitchFamily="2" charset="0"/>
                <a:ea typeface="Palatino" pitchFamily="2" charset="0"/>
              </a:rPr>
              <a:t>real-world </a:t>
            </a:r>
            <a:r>
              <a:rPr lang="en" altLang="zh-CN" sz="1600" dirty="0">
                <a:latin typeface="Palatino" pitchFamily="2" charset="0"/>
                <a:ea typeface="Palatino" pitchFamily="2" charset="0"/>
              </a:rPr>
              <a:t>performance.</a:t>
            </a:r>
          </a:p>
          <a:p>
            <a:pPr>
              <a:lnSpc>
                <a:spcPct val="150000"/>
              </a:lnSpc>
            </a:pPr>
            <a:r>
              <a:rPr lang="en" altLang="zh-CN" sz="1600" dirty="0">
                <a:latin typeface="Palatino" pitchFamily="2" charset="0"/>
                <a:ea typeface="Palatino" pitchFamily="2" charset="0"/>
              </a:rPr>
              <a:t>2. Spatial clustering did </a:t>
            </a:r>
            <a:r>
              <a:rPr lang="en" altLang="zh-CN" sz="1600" b="1" dirty="0">
                <a:latin typeface="Palatino" pitchFamily="2" charset="0"/>
                <a:ea typeface="Palatino" pitchFamily="2" charset="0"/>
              </a:rPr>
              <a:t>not integrate geological</a:t>
            </a:r>
            <a:r>
              <a:rPr lang="en" altLang="zh-CN" sz="1600" dirty="0">
                <a:latin typeface="Palatino" pitchFamily="2" charset="0"/>
                <a:ea typeface="Palatino" pitchFamily="2" charset="0"/>
              </a:rPr>
              <a:t> context (e.g., fault lines), so cluster interpretation is purely data-driven.</a:t>
            </a:r>
          </a:p>
          <a:p>
            <a:pPr>
              <a:lnSpc>
                <a:spcPct val="150000"/>
              </a:lnSpc>
            </a:pPr>
            <a:endParaRPr kumimoji="1" lang="en" altLang="zh-CN" dirty="0">
              <a:latin typeface="Palatino" pitchFamily="2" charset="0"/>
              <a:ea typeface="Palatino" pitchFamily="2" charset="0"/>
            </a:endParaRPr>
          </a:p>
        </p:txBody>
      </p:sp>
    </p:spTree>
    <p:extLst>
      <p:ext uri="{BB962C8B-B14F-4D97-AF65-F5344CB8AC3E}">
        <p14:creationId xmlns:p14="http://schemas.microsoft.com/office/powerpoint/2010/main" val="1900746130"/>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460998" y="2469074"/>
            <a:ext cx="2816613" cy="689997"/>
          </a:xfrm>
          <a:prstGeom prst="rect">
            <a:avLst/>
          </a:prstGeom>
        </p:spPr>
        <p:txBody>
          <a:bodyPr wrap="square">
            <a:spAutoFit/>
          </a:bodyPr>
          <a:lstStyle/>
          <a:p>
            <a:pPr marL="0" marR="0" lvl="0" indent="0" algn="l" defTabSz="914400" rtl="0" eaLnBrk="1" fontAlgn="auto" latinLnBrk="0" hangingPunct="1">
              <a:lnSpc>
                <a:spcPts val="5000"/>
              </a:lnSpc>
              <a:spcBef>
                <a:spcPct val="50000"/>
              </a:spcBef>
              <a:spcAft>
                <a:spcPts val="0"/>
              </a:spcAft>
              <a:buClrTx/>
              <a:buSzTx/>
              <a:buFontTx/>
              <a:buNone/>
              <a:defRPr/>
            </a:pPr>
            <a:r>
              <a:rPr kumimoji="0" lang="en-US" altLang="zh-TW" sz="4000" b="1" i="0" u="none" strike="noStrike" kern="1200" cap="none" spc="0" normalizeH="0" baseline="0" noProof="0" dirty="0">
                <a:ln>
                  <a:noFill/>
                </a:ln>
                <a:solidFill>
                  <a:prstClr val="white"/>
                </a:solidFill>
                <a:effectLst/>
                <a:uLnTx/>
                <a:uFillTx/>
                <a:latin typeface="Arial" panose="020B0604020202020204" pitchFamily="34" charset="0"/>
                <a:ea typeface="Arial" panose="020B0604020202020204" pitchFamily="34" charset="0"/>
                <a:cs typeface="Arial" panose="020B0604020202020204" pitchFamily="34"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1223</TotalTime>
  <Words>1887</Words>
  <Application>Microsoft Macintosh PowerPoint</Application>
  <PresentationFormat>宽屏</PresentationFormat>
  <Paragraphs>176</Paragraphs>
  <Slides>18</Slides>
  <Notes>17</Notes>
  <HiddenSlides>0</HiddenSlides>
  <MMClips>0</MMClips>
  <ScaleCrop>false</ScaleCrop>
  <HeadingPairs>
    <vt:vector size="8" baseType="variant">
      <vt:variant>
        <vt:lpstr>已用的字体</vt:lpstr>
      </vt:variant>
      <vt:variant>
        <vt:i4>6</vt:i4>
      </vt:variant>
      <vt:variant>
        <vt:lpstr>主题</vt:lpstr>
      </vt:variant>
      <vt:variant>
        <vt:i4>2</vt:i4>
      </vt:variant>
      <vt:variant>
        <vt:lpstr>嵌入 OLE 服务器</vt:lpstr>
      </vt:variant>
      <vt:variant>
        <vt:i4>1</vt:i4>
      </vt:variant>
      <vt:variant>
        <vt:lpstr>幻灯片标题</vt:lpstr>
      </vt:variant>
      <vt:variant>
        <vt:i4>18</vt:i4>
      </vt:variant>
    </vt:vector>
  </HeadingPairs>
  <TitlesOfParts>
    <vt:vector size="27" baseType="lpstr">
      <vt:lpstr>等线</vt:lpstr>
      <vt:lpstr>Arial</vt:lpstr>
      <vt:lpstr>Calibri</vt:lpstr>
      <vt:lpstr>Calibri Light</vt:lpstr>
      <vt:lpstr>Palatino</vt:lpstr>
      <vt:lpstr>Times New Roman</vt:lpstr>
      <vt:lpstr>Office Theme</vt:lpstr>
      <vt:lpstr>1_Office Theme</vt:lpstr>
      <vt:lpstr>工作表</vt:lpstr>
      <vt:lpstr>PowerPoint 演示文稿</vt:lpstr>
      <vt:lpstr>Content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 Jue</dc:creator>
  <cp:lastModifiedBy>Zhang Ruqian</cp:lastModifiedBy>
  <cp:revision>39</cp:revision>
  <dcterms:created xsi:type="dcterms:W3CDTF">2025-09-17T16:50:00Z</dcterms:created>
  <dcterms:modified xsi:type="dcterms:W3CDTF">2025-12-14T07:23:15Z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E302978630BAE8C643E4CA6845C28FC5_43</vt:lpwstr>
  </property>
  <property fmtid="{D5CDD505-2E9C-101B-9397-08002B2CF9AE}" pid="3" name="KSOProductBuildVer">
    <vt:lpwstr>2052-12.1.0.22529</vt:lpwstr>
  </property>
</Properties>
</file>